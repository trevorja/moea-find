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325" r:id="rId3"/>
    <p:sldId id="2321" r:id="rId4"/>
    <p:sldId id="2327" r:id="rId5"/>
    <p:sldId id="2329" r:id="rId6"/>
    <p:sldId id="2330" r:id="rId7"/>
    <p:sldId id="2273" r:id="rId8"/>
    <p:sldId id="2297" r:id="rId9"/>
    <p:sldId id="2298" r:id="rId10"/>
    <p:sldId id="2279" r:id="rId11"/>
    <p:sldId id="2299" r:id="rId12"/>
    <p:sldId id="2300" r:id="rId13"/>
    <p:sldId id="2301" r:id="rId14"/>
    <p:sldId id="2302" r:id="rId15"/>
    <p:sldId id="2305" r:id="rId16"/>
    <p:sldId id="2295" r:id="rId17"/>
    <p:sldId id="2303" r:id="rId18"/>
    <p:sldId id="2307" r:id="rId19"/>
    <p:sldId id="2306" r:id="rId20"/>
    <p:sldId id="2304" r:id="rId21"/>
    <p:sldId id="2310" r:id="rId22"/>
    <p:sldId id="2311" r:id="rId23"/>
    <p:sldId id="2312" r:id="rId24"/>
    <p:sldId id="2314" r:id="rId25"/>
    <p:sldId id="2313" r:id="rId26"/>
    <p:sldId id="230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79D4-8971-BB29-D196-891A69630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F804D-4CEB-F6B9-CE0D-67A2CC4DA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9591F-80D1-D661-F371-1EB03A3CD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E742C-017A-CB91-740A-A5F27AD7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B852C-EC60-A616-1353-FB47DA24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0EB6-40D3-FD89-4526-A261FD83A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7C6F6-F556-483C-883F-50EE25608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178AE-A869-8F50-1BD5-6F9B3631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961C6-7182-9345-114D-41D021B0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E5FA1-FB5E-D960-725D-4A84F867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6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99CA-69EA-8117-4FF0-8349498B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4B9EC-060C-1413-53F7-E21495BF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5F621-9AD2-2D1A-AFDC-CB8492C4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84AFD-4A40-B078-3A1E-09ABFD9F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18E16-9B0D-3CDB-FDE4-7DFC2F7C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9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8B65-496F-C15F-DF62-B559A782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A83A-FED6-0DB1-9381-5790A8537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CB5DA-C954-B9C8-6711-41D1A3592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96B8A-4949-1BBF-7FD1-C8EE9418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AC6A8-6B0E-F3FA-032A-E06E0956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72A95-6546-39AC-0BEB-03DDFA9A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6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D0F8-8E81-A336-E869-0EB03456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6E092-C3AB-DACC-5CC3-4A63EC6CA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EC670-4AB3-77D6-7185-74FCD39AF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614B7-7F74-A0D6-DAF6-8EA999BB0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9AB48-5FD6-BCCD-3FDC-D88D35FAD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894C4-ED4C-C912-DEF7-B51DCFEF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2AAFD-AFC9-C18C-EF32-3E010E66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58626-3E67-5B3C-2F90-36BED8DC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07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1A1E-E681-C1D3-C1FD-4A80A4A6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0B60E-E196-C3CB-A22B-71BA86DF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2E87F-7039-6D67-ED23-3B4F7B23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4B20E-16B8-8F0C-1431-586AD6EE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5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BE32B-5493-E171-3CF4-702E03BBB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C8DCB0-1FBE-13F3-FB69-89BDDF71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0539C-C30A-F967-9A81-528DA1D0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39BC-F001-09DC-CD98-5D5DC1F04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4B75B-2964-6CE3-FF25-D30F4AFF4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46554-21E5-DCA6-7AB3-5209298BD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08A34-51D8-15E9-7C97-C617D4BA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9E58B-316F-E5EB-E578-DADE14D9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58CC3-3ABA-B74B-578B-8B7DF51F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0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A72C-7E06-DBA3-AFAB-927D3012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55B4E-0CC0-D90B-DC53-3E3958866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B8D8A-AEF3-C93E-7ACD-082D8DC73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32D9A-D1C4-888D-5B06-D7F4E559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022E9-BB68-E39F-6067-A5C20E7D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B784B-DD1F-A423-7C76-7476F65E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0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F1FA-4681-AC40-1730-1263199D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D7287-53C8-4344-3CC6-82211D7E1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50CE3-E5E4-DACB-A5B7-6D6F97E0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294B8-E9DB-0264-485E-A0BB6E62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A3358-1E19-FFCC-E668-CEA98B2A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28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8E99C-10AB-7C8E-8C37-70372322D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5A054-F1C1-053F-4830-EE9409D0B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AFC7C-E853-3A82-FA81-33523972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672A3-FA4B-E053-F118-C807677E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04EE0-D321-3ECC-4D3A-FC9B8E8A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2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C70B0-AC49-7759-BCAE-31D6B2705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933C6-E8D8-3A74-9D9A-B0311EE3A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BB9A3-2500-89C9-9A3D-ED3C53DAC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1123F-8130-4B57-9B88-3870B3121D86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DBBC-3257-3D37-1050-7AF7A0B95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19E5D-AFE7-9301-4119-484BD094A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6BA75-276C-4F32-A523-B6E5E620C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7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5.png"/><Relationship Id="rId7" Type="http://schemas.openxmlformats.org/officeDocument/2006/relationships/image" Target="../media/image4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8.png"/><Relationship Id="rId4" Type="http://schemas.openxmlformats.org/officeDocument/2006/relationships/image" Target="../media/image101.png"/><Relationship Id="rId9" Type="http://schemas.openxmlformats.org/officeDocument/2006/relationships/image" Target="../media/image10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5.png"/><Relationship Id="rId5" Type="http://schemas.openxmlformats.org/officeDocument/2006/relationships/image" Target="../media/image102.png"/><Relationship Id="rId10" Type="http://schemas.openxmlformats.org/officeDocument/2006/relationships/image" Target="../media/image108.png"/><Relationship Id="rId4" Type="http://schemas.openxmlformats.org/officeDocument/2006/relationships/image" Target="../media/image101.png"/><Relationship Id="rId9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8.png"/><Relationship Id="rId4" Type="http://schemas.openxmlformats.org/officeDocument/2006/relationships/image" Target="../media/image101.png"/><Relationship Id="rId9" Type="http://schemas.openxmlformats.org/officeDocument/2006/relationships/image" Target="../media/image1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1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13.png"/><Relationship Id="rId5" Type="http://schemas.openxmlformats.org/officeDocument/2006/relationships/image" Target="../media/image102.png"/><Relationship Id="rId10" Type="http://schemas.openxmlformats.org/officeDocument/2006/relationships/image" Target="../media/image112.png"/><Relationship Id="rId4" Type="http://schemas.openxmlformats.org/officeDocument/2006/relationships/image" Target="../media/image101.png"/><Relationship Id="rId9" Type="http://schemas.openxmlformats.org/officeDocument/2006/relationships/image" Target="../media/image10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E178-2E08-6A81-2B07-1739E075A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MOEA-FIND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FC3B3-7663-22EA-E98C-51C95F339D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1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BBBE-4A24-D2E5-1A22-D900A3D4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5E52-15A9-F86E-CA49-A8371B7C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Synthetic generation literature reviews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2896-FD23-6AEF-A736-9696131D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03963-303C-3272-E27B-F948381C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FF898-19DC-3255-9B03-B9CF5E18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F69311-96A5-8254-DB71-88DBF3400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862" y="992038"/>
            <a:ext cx="6641476" cy="51931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E605A2-41CC-68BF-F75D-B5AD3405CD1C}"/>
              </a:ext>
            </a:extLst>
          </p:cNvPr>
          <p:cNvSpPr txBox="1"/>
          <p:nvPr/>
        </p:nvSpPr>
        <p:spPr>
          <a:xfrm>
            <a:off x="439946" y="3429000"/>
            <a:ext cx="46668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“At regional or local scales… internal variability remains important or even dominant for a longer time, as climate tends to be more variable at smaller spatial scales”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F19311-409A-BB76-74D6-4190886B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57" y="1405099"/>
            <a:ext cx="4878029" cy="105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60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0D1B-9DAC-3341-56E0-C906A64B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9E53-88ED-469B-A516-5FB53025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Synthetic generation literature reviews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39FFC-ADDC-554D-B3BA-7EFA162A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FCB30-A984-B94D-D8DF-4797ED78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491F-9FDE-F55C-4ED4-726419D2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B2BE8-7B73-6DC0-15CD-E772A3DEE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7" y="927047"/>
            <a:ext cx="7066547" cy="1864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E8CC08-545B-58A1-D1BD-E4BB884BD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830" y="996830"/>
            <a:ext cx="4979513" cy="54193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E8F47D-4240-4014-F426-309371223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133" y="3018876"/>
            <a:ext cx="3072534" cy="9663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3259BE-0536-29C3-7F5B-9BCBB7025765}"/>
              </a:ext>
            </a:extLst>
          </p:cNvPr>
          <p:cNvSpPr txBox="1"/>
          <p:nvPr/>
        </p:nvSpPr>
        <p:spPr>
          <a:xfrm>
            <a:off x="760066" y="4186872"/>
            <a:ext cx="59620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same simulated annealing-based generation as in </a:t>
            </a:r>
            <a:r>
              <a:rPr lang="en-US" dirty="0" err="1"/>
              <a:t>Zaniolo</a:t>
            </a:r>
            <a:r>
              <a:rPr lang="en-US" dirty="0"/>
              <a:t> et al. (2024).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Differences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multiple sites using cross-site correlation matrix in the objective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Hurst coefficient included in the objective function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570F62-A5A3-C7E1-0E3D-A67024EA3D23}"/>
              </a:ext>
            </a:extLst>
          </p:cNvPr>
          <p:cNvSpPr/>
          <p:nvPr/>
        </p:nvSpPr>
        <p:spPr>
          <a:xfrm>
            <a:off x="396815" y="996830"/>
            <a:ext cx="1742536" cy="3661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Dec. 2024</a:t>
            </a:r>
          </a:p>
        </p:txBody>
      </p:sp>
    </p:spTree>
    <p:extLst>
      <p:ext uri="{BB962C8B-B14F-4D97-AF65-F5344CB8AC3E}">
        <p14:creationId xmlns:p14="http://schemas.microsoft.com/office/powerpoint/2010/main" val="3819725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C582-39CF-98F5-F0E7-AA762869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D154-9EA5-D970-9651-AD841B10C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Synthetic generation literature reviews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3A64B-2396-D153-E8CA-2B935296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2EC32-CCE7-C3CF-CEFF-03434E86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7256A-EE9F-A2D5-2EE7-073F1E64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AF4C62-4A64-BF52-4B7F-9C3D7A06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57" y="927047"/>
            <a:ext cx="7066547" cy="1864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C3014C-95EE-A550-F6B4-E9D5F31AE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830" y="996830"/>
            <a:ext cx="4979513" cy="54193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C3CF6D-1FE7-3722-5D5B-0A2F7FFC1297}"/>
              </a:ext>
            </a:extLst>
          </p:cNvPr>
          <p:cNvSpPr/>
          <p:nvPr/>
        </p:nvSpPr>
        <p:spPr>
          <a:xfrm>
            <a:off x="396815" y="996830"/>
            <a:ext cx="1742536" cy="3661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Dec. 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28955-93E8-E276-E4E2-1A84FFF48D5E}"/>
              </a:ext>
            </a:extLst>
          </p:cNvPr>
          <p:cNvSpPr txBox="1"/>
          <p:nvPr/>
        </p:nvSpPr>
        <p:spPr>
          <a:xfrm>
            <a:off x="558963" y="4066607"/>
            <a:ext cx="6094562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i="1" dirty="0"/>
              <a:t>“</a:t>
            </a:r>
            <a:r>
              <a:rPr lang="en-US" sz="2400" i="1" dirty="0" err="1"/>
              <a:t>Borgomeo</a:t>
            </a:r>
            <a:r>
              <a:rPr lang="en-US" sz="2400" i="1" dirty="0"/>
              <a:t> et al. (2015) </a:t>
            </a:r>
            <a:r>
              <a:rPr lang="en-US" sz="2400" b="1" i="1" dirty="0"/>
              <a:t>provided perhaps the most general approach</a:t>
            </a:r>
            <a:r>
              <a:rPr lang="en-US" sz="2400" i="1" dirty="0"/>
              <a:t>, in which streamflow generation is treated as a combinatorial </a:t>
            </a:r>
            <a:r>
              <a:rPr lang="en-US" sz="2400" b="1" i="1" dirty="0"/>
              <a:t>optimization problem to match one or more user specified statistics of the resulting flows</a:t>
            </a:r>
            <a:r>
              <a:rPr lang="en-US" sz="2400" i="1" dirty="0"/>
              <a:t>.”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BF8B2A-EFD8-306C-F93D-52D1FDEB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20" y="3047724"/>
            <a:ext cx="5072332" cy="101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9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30B3-62B6-FC94-0866-1B2C174C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753B-B0B3-8B43-42F3-8EADC544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Synthetic generation – breakdown of Kirsch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ED6C3-760A-DA17-5F58-0B8F4E68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A673-D256-F93C-9E19-9BA82473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7759D-8FA4-D9CC-45D7-5D8BE508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5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568C9-D17C-A90E-52F4-837167EFFC5E}"/>
              </a:ext>
            </a:extLst>
          </p:cNvPr>
          <p:cNvSpPr/>
          <p:nvPr/>
        </p:nvSpPr>
        <p:spPr>
          <a:xfrm>
            <a:off x="5013383" y="1180353"/>
            <a:ext cx="2172420" cy="4830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Historic Flow (</a:t>
            </a:r>
            <a:r>
              <a:rPr lang="en-US" dirty="0" err="1"/>
              <a:t>Qh</a:t>
            </a:r>
            <a:r>
              <a:rPr lang="en-US" dirty="0"/>
              <a:t>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549718-1284-A0CE-98E3-AC032FEEE70A}"/>
              </a:ext>
            </a:extLst>
          </p:cNvPr>
          <p:cNvSpPr/>
          <p:nvPr/>
        </p:nvSpPr>
        <p:spPr>
          <a:xfrm>
            <a:off x="3581400" y="1881299"/>
            <a:ext cx="5029200" cy="36913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AA8541-15AD-4607-7AF1-4A81397845E9}"/>
              </a:ext>
            </a:extLst>
          </p:cNvPr>
          <p:cNvSpPr/>
          <p:nvPr/>
        </p:nvSpPr>
        <p:spPr>
          <a:xfrm>
            <a:off x="5000445" y="2040160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Detrend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4473C0-DE6A-4E71-2BB1-D28269816F88}"/>
              </a:ext>
            </a:extLst>
          </p:cNvPr>
          <p:cNvSpPr/>
          <p:nvPr/>
        </p:nvSpPr>
        <p:spPr>
          <a:xfrm>
            <a:off x="5000444" y="2692209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Remove Seasonality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77200A-B72B-53B9-49AF-B640BE737543}"/>
              </a:ext>
            </a:extLst>
          </p:cNvPr>
          <p:cNvSpPr/>
          <p:nvPr/>
        </p:nvSpPr>
        <p:spPr>
          <a:xfrm>
            <a:off x="5000443" y="3951693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Impose Correlation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B36859-C215-C45A-38F6-4B210B9C12BE}"/>
              </a:ext>
            </a:extLst>
          </p:cNvPr>
          <p:cNvSpPr/>
          <p:nvPr/>
        </p:nvSpPr>
        <p:spPr>
          <a:xfrm>
            <a:off x="5000443" y="4489065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Impose Seasonality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858F0-41C6-BFCB-74AD-317C08C6E176}"/>
              </a:ext>
            </a:extLst>
          </p:cNvPr>
          <p:cNvSpPr/>
          <p:nvPr/>
        </p:nvSpPr>
        <p:spPr>
          <a:xfrm>
            <a:off x="5000443" y="5026437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Impose Trend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8662A9-6482-7FDA-AB45-B52F18081E75}"/>
              </a:ext>
            </a:extLst>
          </p:cNvPr>
          <p:cNvCxnSpPr>
            <a:stCxn id="13" idx="3"/>
          </p:cNvCxnSpPr>
          <p:nvPr/>
        </p:nvCxnSpPr>
        <p:spPr>
          <a:xfrm flipV="1">
            <a:off x="7191554" y="2260121"/>
            <a:ext cx="79363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7265356-F9B6-DEFB-E063-92BDBF271B0D}"/>
              </a:ext>
            </a:extLst>
          </p:cNvPr>
          <p:cNvSpPr/>
          <p:nvPr/>
        </p:nvSpPr>
        <p:spPr>
          <a:xfrm>
            <a:off x="7990937" y="1988005"/>
            <a:ext cx="2191109" cy="5442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Trend (</a:t>
            </a:r>
            <a:r>
              <a:rPr lang="en-US" i="1" dirty="0"/>
              <a:t>m</a:t>
            </a:r>
            <a:r>
              <a:rPr lang="en-US" dirty="0"/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AFAA4E-5E5E-0D54-3037-947C1C0FD1D6}"/>
              </a:ext>
            </a:extLst>
          </p:cNvPr>
          <p:cNvCxnSpPr/>
          <p:nvPr/>
        </p:nvCxnSpPr>
        <p:spPr>
          <a:xfrm flipV="1">
            <a:off x="7185803" y="2930832"/>
            <a:ext cx="79363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3BE49DA-60F4-141F-1552-06D5A6F68AA8}"/>
              </a:ext>
            </a:extLst>
          </p:cNvPr>
          <p:cNvSpPr/>
          <p:nvPr/>
        </p:nvSpPr>
        <p:spPr>
          <a:xfrm>
            <a:off x="7979435" y="2590594"/>
            <a:ext cx="2346385" cy="6804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Monthly Mean &amp; Std Dev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FB410D8-1EEB-CA03-3CBE-70B3D4A39883}"/>
              </a:ext>
            </a:extLst>
          </p:cNvPr>
          <p:cNvSpPr/>
          <p:nvPr/>
        </p:nvSpPr>
        <p:spPr>
          <a:xfrm>
            <a:off x="7979434" y="3835742"/>
            <a:ext cx="2346385" cy="6804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Temporal &amp; Spatial Corr.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5D6BAE3-3D79-5872-68A6-057D234792B0}"/>
              </a:ext>
            </a:extLst>
          </p:cNvPr>
          <p:cNvCxnSpPr/>
          <p:nvPr/>
        </p:nvCxnSpPr>
        <p:spPr>
          <a:xfrm flipH="1">
            <a:off x="7185803" y="4175980"/>
            <a:ext cx="793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D565EDA-0EDD-041B-5CC9-14FA84851A4B}"/>
              </a:ext>
            </a:extLst>
          </p:cNvPr>
          <p:cNvCxnSpPr>
            <a:stCxn id="23" idx="6"/>
            <a:endCxn id="17" idx="3"/>
          </p:cNvCxnSpPr>
          <p:nvPr/>
        </p:nvCxnSpPr>
        <p:spPr>
          <a:xfrm flipH="1">
            <a:off x="7191552" y="2930832"/>
            <a:ext cx="3134268" cy="1782520"/>
          </a:xfrm>
          <a:prstGeom prst="bentConnector3">
            <a:avLst>
              <a:gd name="adj1" fmla="val -729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B059CF4-DDE4-F6D3-992D-607BAD85C9B7}"/>
              </a:ext>
            </a:extLst>
          </p:cNvPr>
          <p:cNvCxnSpPr>
            <a:cxnSpLocks/>
            <a:stCxn id="21" idx="6"/>
            <a:endCxn id="18" idx="3"/>
          </p:cNvCxnSpPr>
          <p:nvPr/>
        </p:nvCxnSpPr>
        <p:spPr>
          <a:xfrm flipH="1">
            <a:off x="7191552" y="2260121"/>
            <a:ext cx="2990494" cy="2990603"/>
          </a:xfrm>
          <a:prstGeom prst="bentConnector3">
            <a:avLst>
              <a:gd name="adj1" fmla="val -206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341A3A2-8514-9946-4DCF-6D5204C6BBCA}"/>
              </a:ext>
            </a:extLst>
          </p:cNvPr>
          <p:cNvSpPr/>
          <p:nvPr/>
        </p:nvSpPr>
        <p:spPr>
          <a:xfrm>
            <a:off x="5013383" y="5789066"/>
            <a:ext cx="2172420" cy="483079"/>
          </a:xfrm>
          <a:prstGeom prst="roundRect">
            <a:avLst/>
          </a:prstGeom>
          <a:solidFill>
            <a:srgbClr val="B17ED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Synthetic Flow (Qs)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0741C69-347F-7D6A-25D6-2C5ABD1B7D79}"/>
              </a:ext>
            </a:extLst>
          </p:cNvPr>
          <p:cNvSpPr/>
          <p:nvPr/>
        </p:nvSpPr>
        <p:spPr>
          <a:xfrm>
            <a:off x="3748169" y="2692208"/>
            <a:ext cx="464393" cy="4485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Zh</a:t>
            </a:r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BB10C3E-6C39-6D6E-D899-BFDFB054C0CC}"/>
              </a:ext>
            </a:extLst>
          </p:cNvPr>
          <p:cNvSpPr/>
          <p:nvPr/>
        </p:nvSpPr>
        <p:spPr>
          <a:xfrm>
            <a:off x="3748169" y="3951691"/>
            <a:ext cx="464393" cy="4485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006753E-8D88-0D08-AA1A-3F6782F7CE51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3980365" y="3140783"/>
            <a:ext cx="1" cy="171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166FFB4-164E-1256-DCB4-9B8A0D63F4C7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3980365" y="3761257"/>
            <a:ext cx="1" cy="190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8C9269C-0236-682F-B4E6-BA76335A9317}"/>
              </a:ext>
            </a:extLst>
          </p:cNvPr>
          <p:cNvCxnSpPr>
            <a:cxnSpLocks/>
            <a:stCxn id="14" idx="1"/>
            <a:endCxn id="35" idx="3"/>
          </p:cNvCxnSpPr>
          <p:nvPr/>
        </p:nvCxnSpPr>
        <p:spPr>
          <a:xfrm flipH="1">
            <a:off x="4212562" y="2916496"/>
            <a:ext cx="787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9807AB-BACF-0C7F-289A-F99A80B3A75F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6095999" y="2488734"/>
            <a:ext cx="1" cy="20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3262D49-084C-20FE-A572-A5203F3DA195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6096000" y="1663432"/>
            <a:ext cx="3593" cy="3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1C5A2DA-A89E-9EC2-D686-FFD703A8F2E5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212561" y="4175978"/>
            <a:ext cx="78788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B92C616-A3E3-85DE-F336-D586B3FB5BDF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6095998" y="4400267"/>
            <a:ext cx="0" cy="8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5AA6FCE-8718-EC40-BFCA-ACA4D91448B2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095998" y="4937639"/>
            <a:ext cx="0" cy="8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83EB20D-4617-395A-40D2-BD877C248B27}"/>
              </a:ext>
            </a:extLst>
          </p:cNvPr>
          <p:cNvCxnSpPr>
            <a:cxnSpLocks/>
            <a:stCxn id="18" idx="2"/>
            <a:endCxn id="34" idx="0"/>
          </p:cNvCxnSpPr>
          <p:nvPr/>
        </p:nvCxnSpPr>
        <p:spPr>
          <a:xfrm>
            <a:off x="6095998" y="5475011"/>
            <a:ext cx="3595" cy="314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D1681DA8-E996-B2E3-9125-FB762BCE0B94}"/>
              </a:ext>
            </a:extLst>
          </p:cNvPr>
          <p:cNvSpPr/>
          <p:nvPr/>
        </p:nvSpPr>
        <p:spPr>
          <a:xfrm>
            <a:off x="2884810" y="3220583"/>
            <a:ext cx="2191109" cy="60150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Random Process (</a:t>
            </a:r>
            <a:r>
              <a:rPr lang="en-US" i="1" dirty="0"/>
              <a:t>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316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1FE4-C8D5-0057-8F23-B9B2F6B48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8997-CB81-9295-F2A5-7CE48F84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Synthetic generation – breakdown of Kirsch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FA073-03A4-22CD-4028-DC8E6F64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460DC-F636-BC35-4886-BBC70510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AE6B7-1D37-EDF2-DABD-A80E67EF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0A92B7-21E7-B2E6-0EA6-B2ED7393E1CA}"/>
              </a:ext>
            </a:extLst>
          </p:cNvPr>
          <p:cNvSpPr/>
          <p:nvPr/>
        </p:nvSpPr>
        <p:spPr>
          <a:xfrm>
            <a:off x="5013383" y="1180353"/>
            <a:ext cx="2172420" cy="48307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Historic Flow (</a:t>
            </a:r>
            <a:r>
              <a:rPr lang="en-US" dirty="0" err="1"/>
              <a:t>Qh</a:t>
            </a:r>
            <a:r>
              <a:rPr lang="en-US" dirty="0"/>
              <a:t>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A7B6E0-C23C-86E5-BF0F-16068F83426E}"/>
              </a:ext>
            </a:extLst>
          </p:cNvPr>
          <p:cNvSpPr/>
          <p:nvPr/>
        </p:nvSpPr>
        <p:spPr>
          <a:xfrm>
            <a:off x="3581400" y="1881299"/>
            <a:ext cx="5029200" cy="36913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2ABF19-A6E6-D1B6-9F7B-B1D7D5D46143}"/>
              </a:ext>
            </a:extLst>
          </p:cNvPr>
          <p:cNvSpPr/>
          <p:nvPr/>
        </p:nvSpPr>
        <p:spPr>
          <a:xfrm>
            <a:off x="5000445" y="2040160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Detrend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5E404-3BFB-9514-F084-CB9D26F9825D}"/>
              </a:ext>
            </a:extLst>
          </p:cNvPr>
          <p:cNvSpPr/>
          <p:nvPr/>
        </p:nvSpPr>
        <p:spPr>
          <a:xfrm>
            <a:off x="5000444" y="2692209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Remove Seasonality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3628B1-1AFF-F380-CF23-4AFCEFDFACF2}"/>
              </a:ext>
            </a:extLst>
          </p:cNvPr>
          <p:cNvSpPr/>
          <p:nvPr/>
        </p:nvSpPr>
        <p:spPr>
          <a:xfrm>
            <a:off x="5000443" y="3951693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Impose Correlation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99DB69-B18D-9C1A-9951-7BBD1EBFBF81}"/>
              </a:ext>
            </a:extLst>
          </p:cNvPr>
          <p:cNvSpPr/>
          <p:nvPr/>
        </p:nvSpPr>
        <p:spPr>
          <a:xfrm>
            <a:off x="5000443" y="4489065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Impose Seasonality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4C83DC-7734-EAF7-0E80-C0B383BA0473}"/>
              </a:ext>
            </a:extLst>
          </p:cNvPr>
          <p:cNvSpPr/>
          <p:nvPr/>
        </p:nvSpPr>
        <p:spPr>
          <a:xfrm>
            <a:off x="5000443" y="5026437"/>
            <a:ext cx="2191109" cy="448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Impose Trend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8211BA-6748-27F8-017B-2E933C8D2FD2}"/>
              </a:ext>
            </a:extLst>
          </p:cNvPr>
          <p:cNvCxnSpPr>
            <a:stCxn id="13" idx="3"/>
          </p:cNvCxnSpPr>
          <p:nvPr/>
        </p:nvCxnSpPr>
        <p:spPr>
          <a:xfrm flipV="1">
            <a:off x="7191554" y="2260121"/>
            <a:ext cx="79363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A15C9E3-3820-496A-0B43-8826A3F62D8F}"/>
              </a:ext>
            </a:extLst>
          </p:cNvPr>
          <p:cNvSpPr/>
          <p:nvPr/>
        </p:nvSpPr>
        <p:spPr>
          <a:xfrm>
            <a:off x="7990937" y="1988005"/>
            <a:ext cx="2191109" cy="54423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Trend (</a:t>
            </a:r>
            <a:r>
              <a:rPr lang="en-US" i="1" dirty="0"/>
              <a:t>m</a:t>
            </a:r>
            <a:r>
              <a:rPr lang="en-US" dirty="0"/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63A6E9-613F-5701-9D29-84B35FDEFB2B}"/>
              </a:ext>
            </a:extLst>
          </p:cNvPr>
          <p:cNvCxnSpPr/>
          <p:nvPr/>
        </p:nvCxnSpPr>
        <p:spPr>
          <a:xfrm flipV="1">
            <a:off x="7185803" y="2930832"/>
            <a:ext cx="793632" cy="4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002572E-C850-2F1C-1108-E23ACCFD6B14}"/>
              </a:ext>
            </a:extLst>
          </p:cNvPr>
          <p:cNvSpPr/>
          <p:nvPr/>
        </p:nvSpPr>
        <p:spPr>
          <a:xfrm>
            <a:off x="7979435" y="2590594"/>
            <a:ext cx="2346385" cy="6804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Monthly Mean &amp; Std Dev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B8AA60-C533-20B0-6743-73D620ED8E83}"/>
              </a:ext>
            </a:extLst>
          </p:cNvPr>
          <p:cNvSpPr/>
          <p:nvPr/>
        </p:nvSpPr>
        <p:spPr>
          <a:xfrm>
            <a:off x="7979434" y="3835742"/>
            <a:ext cx="2346385" cy="6804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Temporal &amp; Spatial Corr.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B5C99D0-FA0B-6588-D988-3F44610D67B8}"/>
              </a:ext>
            </a:extLst>
          </p:cNvPr>
          <p:cNvCxnSpPr/>
          <p:nvPr/>
        </p:nvCxnSpPr>
        <p:spPr>
          <a:xfrm flipH="1">
            <a:off x="7185803" y="4175980"/>
            <a:ext cx="793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6FF417E-99B9-10C9-B457-DC519B87CE2F}"/>
              </a:ext>
            </a:extLst>
          </p:cNvPr>
          <p:cNvCxnSpPr>
            <a:stCxn id="23" idx="6"/>
            <a:endCxn id="17" idx="3"/>
          </p:cNvCxnSpPr>
          <p:nvPr/>
        </p:nvCxnSpPr>
        <p:spPr>
          <a:xfrm flipH="1">
            <a:off x="7191552" y="2930832"/>
            <a:ext cx="3134268" cy="1782520"/>
          </a:xfrm>
          <a:prstGeom prst="bentConnector3">
            <a:avLst>
              <a:gd name="adj1" fmla="val -729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9ADFE43-0A57-483E-EC35-777CE4C07E36}"/>
              </a:ext>
            </a:extLst>
          </p:cNvPr>
          <p:cNvCxnSpPr>
            <a:cxnSpLocks/>
            <a:stCxn id="21" idx="6"/>
            <a:endCxn id="18" idx="3"/>
          </p:cNvCxnSpPr>
          <p:nvPr/>
        </p:nvCxnSpPr>
        <p:spPr>
          <a:xfrm flipH="1">
            <a:off x="7191552" y="2260121"/>
            <a:ext cx="2990494" cy="2990603"/>
          </a:xfrm>
          <a:prstGeom prst="bentConnector3">
            <a:avLst>
              <a:gd name="adj1" fmla="val -2062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7DDAA8C-6241-D7FE-F9A7-E3BD37B06D56}"/>
              </a:ext>
            </a:extLst>
          </p:cNvPr>
          <p:cNvSpPr/>
          <p:nvPr/>
        </p:nvSpPr>
        <p:spPr>
          <a:xfrm>
            <a:off x="5013383" y="5789066"/>
            <a:ext cx="2172420" cy="483079"/>
          </a:xfrm>
          <a:prstGeom prst="roundRect">
            <a:avLst/>
          </a:prstGeom>
          <a:solidFill>
            <a:srgbClr val="B17ED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Synthetic Flow (Qs)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DB89F36-4A95-19E3-7307-5EB5F8E47977}"/>
              </a:ext>
            </a:extLst>
          </p:cNvPr>
          <p:cNvSpPr/>
          <p:nvPr/>
        </p:nvSpPr>
        <p:spPr>
          <a:xfrm>
            <a:off x="3748169" y="2692208"/>
            <a:ext cx="464393" cy="4485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Zh</a:t>
            </a:r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7B75CB6-D8DE-B7F4-624E-C46D5BDAD072}"/>
              </a:ext>
            </a:extLst>
          </p:cNvPr>
          <p:cNvSpPr/>
          <p:nvPr/>
        </p:nvSpPr>
        <p:spPr>
          <a:xfrm>
            <a:off x="3748169" y="3951691"/>
            <a:ext cx="464393" cy="4485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0374E07-B10F-7B97-4BC2-F5209A9421C3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3980365" y="3140783"/>
            <a:ext cx="1" cy="171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BD2BD3-7EFD-5EF0-5714-3380428C81FB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3980365" y="3761257"/>
            <a:ext cx="1" cy="190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12467B4-24F1-02FD-1829-250CE67860F3}"/>
              </a:ext>
            </a:extLst>
          </p:cNvPr>
          <p:cNvCxnSpPr>
            <a:cxnSpLocks/>
            <a:stCxn id="14" idx="1"/>
            <a:endCxn id="35" idx="3"/>
          </p:cNvCxnSpPr>
          <p:nvPr/>
        </p:nvCxnSpPr>
        <p:spPr>
          <a:xfrm flipH="1">
            <a:off x="4212562" y="2916496"/>
            <a:ext cx="787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80BBAA1-CE86-7A03-4ED1-A7E17FF3F500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6095999" y="2488734"/>
            <a:ext cx="1" cy="20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4758351-53FE-57B0-11B2-7E2C9765112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6096000" y="1663432"/>
            <a:ext cx="3593" cy="37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C3779ED-960C-3A97-F34F-958B70129D66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212561" y="4175978"/>
            <a:ext cx="78788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9544C0F-0CB0-FF23-129A-08013E47CE71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6095998" y="4400267"/>
            <a:ext cx="0" cy="8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EE0AF8A-EEA5-9865-1C41-2579F6FA7949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095998" y="4937639"/>
            <a:ext cx="0" cy="8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87EAEC5-EF04-7A8D-698B-EA9F95EBC476}"/>
              </a:ext>
            </a:extLst>
          </p:cNvPr>
          <p:cNvCxnSpPr>
            <a:cxnSpLocks/>
            <a:stCxn id="18" idx="2"/>
            <a:endCxn id="34" idx="0"/>
          </p:cNvCxnSpPr>
          <p:nvPr/>
        </p:nvCxnSpPr>
        <p:spPr>
          <a:xfrm>
            <a:off x="6095998" y="5475011"/>
            <a:ext cx="3595" cy="314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6E99C88-24F7-F78C-3C55-6A78196BA085}"/>
              </a:ext>
            </a:extLst>
          </p:cNvPr>
          <p:cNvSpPr/>
          <p:nvPr/>
        </p:nvSpPr>
        <p:spPr>
          <a:xfrm>
            <a:off x="2884810" y="3220583"/>
            <a:ext cx="2191109" cy="60150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Random Process (</a:t>
            </a:r>
            <a:r>
              <a:rPr lang="en-US" i="1" dirty="0"/>
              <a:t>M</a:t>
            </a:r>
            <a:r>
              <a:rPr lang="en-US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1F6EDE-69F8-6834-EEAE-9E4D4CB633B2}"/>
              </a:ext>
            </a:extLst>
          </p:cNvPr>
          <p:cNvSpPr/>
          <p:nvPr/>
        </p:nvSpPr>
        <p:spPr>
          <a:xfrm>
            <a:off x="273657" y="1052423"/>
            <a:ext cx="2172420" cy="3651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Climate Responses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ED32C-9208-15C4-3E7C-D5DC8E1DC348}"/>
              </a:ext>
            </a:extLst>
          </p:cNvPr>
          <p:cNvSpPr/>
          <p:nvPr/>
        </p:nvSpPr>
        <p:spPr>
          <a:xfrm>
            <a:off x="273657" y="1603091"/>
            <a:ext cx="2172420" cy="36512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Internal Variability</a:t>
            </a:r>
          </a:p>
        </p:txBody>
      </p:sp>
    </p:spTree>
    <p:extLst>
      <p:ext uri="{BB962C8B-B14F-4D97-AF65-F5344CB8AC3E}">
        <p14:creationId xmlns:p14="http://schemas.microsoft.com/office/powerpoint/2010/main" val="362419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B5ED-EFA4-B756-A689-0715624A4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D79E-E1F7-569D-AA0A-502FD0D8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9BDAA-8F0A-026B-B3F5-36CC25D4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EBEF0-861F-7F6C-32C8-50939EB2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1BB59-596D-4D22-44BC-14631B71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3B2A68-D100-5958-7727-D5ECD24F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032" y="1652841"/>
            <a:ext cx="5498661" cy="4365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404E26-F111-5FFF-A9EE-E5AB47024925}"/>
              </a:ext>
            </a:extLst>
          </p:cNvPr>
          <p:cNvSpPr txBox="1"/>
          <p:nvPr/>
        </p:nvSpPr>
        <p:spPr>
          <a:xfrm>
            <a:off x="6754053" y="1343271"/>
            <a:ext cx="5015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Sampling for parameters X1 and X2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FB0669-10CF-F1FF-9863-E1FB1E6207A6}"/>
              </a:ext>
            </a:extLst>
          </p:cNvPr>
          <p:cNvSpPr/>
          <p:nvPr/>
        </p:nvSpPr>
        <p:spPr>
          <a:xfrm>
            <a:off x="746366" y="2367686"/>
            <a:ext cx="4799757" cy="27881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AF653B-A010-5D02-E4EA-8AB00305BE5B}"/>
              </a:ext>
            </a:extLst>
          </p:cNvPr>
          <p:cNvSpPr/>
          <p:nvPr/>
        </p:nvSpPr>
        <p:spPr>
          <a:xfrm>
            <a:off x="1521802" y="2836259"/>
            <a:ext cx="1394156" cy="646019"/>
          </a:xfrm>
          <a:prstGeom prst="roundRect">
            <a:avLst/>
          </a:prstGeom>
          <a:solidFill>
            <a:srgbClr val="C9A6E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Borg MOEA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9A2F2F-135C-D97F-B060-0B5317DB029A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218880" y="3482278"/>
            <a:ext cx="0" cy="241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6308854-93D4-FE96-3C45-B916516BBBD4}"/>
                  </a:ext>
                </a:extLst>
              </p:cNvPr>
              <p:cNvSpPr/>
              <p:nvPr/>
            </p:nvSpPr>
            <p:spPr>
              <a:xfrm>
                <a:off x="4090030" y="2967757"/>
                <a:ext cx="383023" cy="38302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𝑱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6308854-93D4-FE96-3C45-B916516BB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030" y="2967757"/>
                <a:ext cx="383023" cy="383023"/>
              </a:xfrm>
              <a:prstGeom prst="ellipse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C36227-EFF5-B60E-907E-54C502C8B929}"/>
              </a:ext>
            </a:extLst>
          </p:cNvPr>
          <p:cNvCxnSpPr>
            <a:cxnSpLocks/>
            <a:stCxn id="34" idx="3"/>
            <a:endCxn id="22" idx="4"/>
          </p:cNvCxnSpPr>
          <p:nvPr/>
        </p:nvCxnSpPr>
        <p:spPr>
          <a:xfrm flipV="1">
            <a:off x="3396985" y="3350780"/>
            <a:ext cx="884557" cy="122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611C8A-87A6-E5EA-9CC4-AAFBACFF97AD}"/>
              </a:ext>
            </a:extLst>
          </p:cNvPr>
          <p:cNvCxnSpPr>
            <a:cxnSpLocks/>
            <a:stCxn id="22" idx="2"/>
            <a:endCxn id="11" idx="3"/>
          </p:cNvCxnSpPr>
          <p:nvPr/>
        </p:nvCxnSpPr>
        <p:spPr>
          <a:xfrm flipH="1">
            <a:off x="2915958" y="3159269"/>
            <a:ext cx="1174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7060CB5-35BD-5FD4-6CCF-6B4D879999CD}"/>
              </a:ext>
            </a:extLst>
          </p:cNvPr>
          <p:cNvSpPr txBox="1"/>
          <p:nvPr/>
        </p:nvSpPr>
        <p:spPr>
          <a:xfrm>
            <a:off x="3756251" y="2580054"/>
            <a:ext cx="928648" cy="290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Obj.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1D61F38-C86D-9ABC-4739-C4B0473EE809}"/>
                  </a:ext>
                </a:extLst>
              </p:cNvPr>
              <p:cNvSpPr/>
              <p:nvPr/>
            </p:nvSpPr>
            <p:spPr>
              <a:xfrm>
                <a:off x="4661196" y="2967598"/>
                <a:ext cx="383023" cy="38302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1D61F38-C86D-9ABC-4739-C4B0473EE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196" y="2967598"/>
                <a:ext cx="383023" cy="38302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F65514E-1E0F-193B-8588-570FECF04765}"/>
              </a:ext>
            </a:extLst>
          </p:cNvPr>
          <p:cNvSpPr txBox="1"/>
          <p:nvPr/>
        </p:nvSpPr>
        <p:spPr>
          <a:xfrm>
            <a:off x="4327417" y="2579895"/>
            <a:ext cx="928648" cy="290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Constr.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6FB799-1F31-8D22-2935-6E00E82A2ED9}"/>
              </a:ext>
            </a:extLst>
          </p:cNvPr>
          <p:cNvCxnSpPr>
            <a:cxnSpLocks/>
            <a:stCxn id="34" idx="3"/>
            <a:endCxn id="26" idx="4"/>
          </p:cNvCxnSpPr>
          <p:nvPr/>
        </p:nvCxnSpPr>
        <p:spPr>
          <a:xfrm flipV="1">
            <a:off x="3396985" y="3350621"/>
            <a:ext cx="1455723" cy="1225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B5D1FBD-30DE-028A-4166-5B2390D306BE}"/>
                  </a:ext>
                </a:extLst>
              </p:cNvPr>
              <p:cNvSpPr/>
              <p:nvPr/>
            </p:nvSpPr>
            <p:spPr>
              <a:xfrm>
                <a:off x="1841490" y="3744592"/>
                <a:ext cx="754779" cy="44049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𝑣𝑎𝑟𝑠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B5D1FBD-30DE-028A-4166-5B2390D306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90" y="3744592"/>
                <a:ext cx="754779" cy="44049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315F1B3B-158D-F9AA-944F-3E4AB9D549A7}"/>
                  </a:ext>
                </a:extLst>
              </p:cNvPr>
              <p:cNvSpPr/>
              <p:nvPr/>
            </p:nvSpPr>
            <p:spPr>
              <a:xfrm>
                <a:off x="1521802" y="4333461"/>
                <a:ext cx="1875183" cy="485902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𝑣𝑎𝑟𝑠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315F1B3B-158D-F9AA-944F-3E4AB9D549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802" y="4333461"/>
                <a:ext cx="1875183" cy="48590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25F758-76E2-7003-BC4E-837D0C9584E8}"/>
              </a:ext>
            </a:extLst>
          </p:cNvPr>
          <p:cNvCxnSpPr>
            <a:cxnSpLocks/>
          </p:cNvCxnSpPr>
          <p:nvPr/>
        </p:nvCxnSpPr>
        <p:spPr>
          <a:xfrm>
            <a:off x="2209800" y="4185091"/>
            <a:ext cx="0" cy="148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290CF74-EB78-DF02-DA31-C7C6AD9EEE25}"/>
              </a:ext>
            </a:extLst>
          </p:cNvPr>
          <p:cNvSpPr/>
          <p:nvPr/>
        </p:nvSpPr>
        <p:spPr>
          <a:xfrm>
            <a:off x="5679518" y="3441378"/>
            <a:ext cx="739223" cy="64071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92C80A-B856-8AA7-340A-178F186F839A}"/>
              </a:ext>
            </a:extLst>
          </p:cNvPr>
          <p:cNvSpPr txBox="1"/>
          <p:nvPr/>
        </p:nvSpPr>
        <p:spPr>
          <a:xfrm>
            <a:off x="746366" y="1135559"/>
            <a:ext cx="4799757" cy="830997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Can Borg generate a Pareto Front with structured (sub) space?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39252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3906-DCFB-08DF-D63C-00E302A2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CF91-1B64-BEA2-302C-C9741620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97AD-1FD7-A738-533F-B26B896A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9E26B-73FA-1A45-5DBD-14D92BE8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2E6BC-E8B3-DB5B-EA23-7298CE15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F9D62B-ADA0-B518-51E1-0A2BA3356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032" y="1652841"/>
            <a:ext cx="5498661" cy="4365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1D9673-8997-97A1-2C4A-7550FE93B1C6}"/>
                  </a:ext>
                </a:extLst>
              </p:cNvPr>
              <p:cNvSpPr txBox="1"/>
              <p:nvPr/>
            </p:nvSpPr>
            <p:spPr>
              <a:xfrm>
                <a:off x="593035" y="1652841"/>
                <a:ext cx="45355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Objectives: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1D9673-8997-97A1-2C4A-7550FE93B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35" y="1652841"/>
                <a:ext cx="4535557" cy="1200329"/>
              </a:xfrm>
              <a:prstGeom prst="rect">
                <a:avLst/>
              </a:prstGeom>
              <a:blipFill>
                <a:blip r:embed="rId3"/>
                <a:stretch>
                  <a:fillRect l="-2016" t="-4061" b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4F40D81F-8EE5-19BA-1E97-72FDCB8CB9A1}"/>
              </a:ext>
            </a:extLst>
          </p:cNvPr>
          <p:cNvSpPr/>
          <p:nvPr/>
        </p:nvSpPr>
        <p:spPr>
          <a:xfrm>
            <a:off x="6930887" y="1921565"/>
            <a:ext cx="4916556" cy="367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34D2D1EC-6D79-7818-1EDF-5E652D85D951}"/>
              </a:ext>
            </a:extLst>
          </p:cNvPr>
          <p:cNvSpPr/>
          <p:nvPr/>
        </p:nvSpPr>
        <p:spPr>
          <a:xfrm rot="10557794">
            <a:off x="7155923" y="1090602"/>
            <a:ext cx="3853314" cy="4371608"/>
          </a:xfrm>
          <a:prstGeom prst="arc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6C6570E8-C439-F681-F784-FDBEEFA0CF12}"/>
              </a:ext>
            </a:extLst>
          </p:cNvPr>
          <p:cNvSpPr/>
          <p:nvPr/>
        </p:nvSpPr>
        <p:spPr>
          <a:xfrm>
            <a:off x="6698974" y="5368127"/>
            <a:ext cx="463826" cy="42112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8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4B26-5502-EF64-D86B-D72A5D3A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B018-5E0F-61FA-685F-8E2F8BC0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291C7-3AAB-30C2-F28A-C09209C6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015F1-8E40-9B1B-F023-CF006E6A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4F678-1D9B-ADF0-CB82-029D0C7E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D32450-9DF7-706F-5F5C-A88062BA4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032" y="1652841"/>
            <a:ext cx="5498661" cy="4365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E5B2E2-74E0-C007-317B-0748C7C35A58}"/>
                  </a:ext>
                </a:extLst>
              </p:cNvPr>
              <p:cNvSpPr txBox="1"/>
              <p:nvPr/>
            </p:nvSpPr>
            <p:spPr>
              <a:xfrm>
                <a:off x="593035" y="1652841"/>
                <a:ext cx="4535557" cy="1665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Objectives: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 err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err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 dirty="0" err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– </m:t>
                                  </m:r>
                                  <m:sSubSup>
                                    <m:sSubSupPr>
                                      <m:ctrlPr>
                                        <a:rPr lang="en-US" sz="2400" b="1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2400" b="1" i="1" dirty="0" err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2400" b="1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E5B2E2-74E0-C007-317B-0748C7C35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35" y="1652841"/>
                <a:ext cx="4535557" cy="1665264"/>
              </a:xfrm>
              <a:prstGeom prst="rect">
                <a:avLst/>
              </a:prstGeom>
              <a:blipFill>
                <a:blip r:embed="rId3"/>
                <a:stretch>
                  <a:fillRect l="-2016" t="-2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tar: 5 Points 7">
            <a:extLst>
              <a:ext uri="{FF2B5EF4-FFF2-40B4-BE49-F238E27FC236}">
                <a16:creationId xmlns:a16="http://schemas.microsoft.com/office/drawing/2014/main" id="{41A6C416-4DE8-4C23-3572-928AE196C6A3}"/>
              </a:ext>
            </a:extLst>
          </p:cNvPr>
          <p:cNvSpPr/>
          <p:nvPr/>
        </p:nvSpPr>
        <p:spPr>
          <a:xfrm>
            <a:off x="6698974" y="5368127"/>
            <a:ext cx="463826" cy="42112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90D4B7-703A-F02C-07F5-3BF6142E2117}"/>
              </a:ext>
            </a:extLst>
          </p:cNvPr>
          <p:cNvSpPr/>
          <p:nvPr/>
        </p:nvSpPr>
        <p:spPr>
          <a:xfrm>
            <a:off x="11651398" y="1789043"/>
            <a:ext cx="331304" cy="331304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149313-CC13-1AA6-91DA-6900E2EFC911}"/>
                  </a:ext>
                </a:extLst>
              </p:cNvPr>
              <p:cNvSpPr txBox="1"/>
              <p:nvPr/>
            </p:nvSpPr>
            <p:spPr>
              <a:xfrm>
                <a:off x="11522189" y="1372465"/>
                <a:ext cx="5897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800" b="1" i="1" dirty="0" err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149313-CC13-1AA6-91DA-6900E2EFC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2189" y="1372465"/>
                <a:ext cx="589722" cy="369332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397ED9-1EAD-175C-2320-45276BC05470}"/>
                  </a:ext>
                </a:extLst>
              </p:cNvPr>
              <p:cNvSpPr txBox="1"/>
              <p:nvPr/>
            </p:nvSpPr>
            <p:spPr>
              <a:xfrm>
                <a:off x="667786" y="3696804"/>
                <a:ext cx="5428214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is the L1 (Manhattan) norm between the objectives of each candidate solution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)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1" i="1" dirty="0" err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1" i="1" dirty="0" err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 is opposite the ideal point.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397ED9-1EAD-175C-2320-45276BC0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6" y="3696804"/>
                <a:ext cx="5428214" cy="1938992"/>
              </a:xfrm>
              <a:prstGeom prst="rect">
                <a:avLst/>
              </a:prstGeom>
              <a:blipFill>
                <a:blip r:embed="rId5"/>
                <a:stretch>
                  <a:fillRect l="-1798" t="-2508" b="-5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96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CA97-E5B8-58CF-E4C5-54351D49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D2CD-B237-7939-D97B-50BD12AF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3074D-CFA1-3862-AD01-52C209BA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AF3E5-07B5-9097-13C9-D6816879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77EC-4228-C6E3-2A5A-244C271D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39944D-D735-E1BD-2800-9D09483FA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60" y="1970268"/>
            <a:ext cx="4416172" cy="3358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AFBC6-044B-BD6B-73A5-E1778D458F2A}"/>
              </a:ext>
            </a:extLst>
          </p:cNvPr>
          <p:cNvSpPr txBox="1"/>
          <p:nvPr/>
        </p:nvSpPr>
        <p:spPr>
          <a:xfrm rot="16200000">
            <a:off x="5034945" y="3619177"/>
            <a:ext cx="3112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L1 (Manhattan) Norm from X*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B28EB-7493-C284-2FBB-F454F2A061EF}"/>
              </a:ext>
            </a:extLst>
          </p:cNvPr>
          <p:cNvSpPr txBox="1"/>
          <p:nvPr/>
        </p:nvSpPr>
        <p:spPr>
          <a:xfrm rot="16200000">
            <a:off x="-765651" y="3323547"/>
            <a:ext cx="3112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L1 (Manhattan) Norm from X*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69A08-275B-79D2-4A55-277EB4FB35B7}"/>
              </a:ext>
            </a:extLst>
          </p:cNvPr>
          <p:cNvSpPr txBox="1"/>
          <p:nvPr/>
        </p:nvSpPr>
        <p:spPr>
          <a:xfrm>
            <a:off x="1769890" y="5272053"/>
            <a:ext cx="3112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X1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42E95A-7827-CA00-A1A4-FA516352AA84}"/>
              </a:ext>
            </a:extLst>
          </p:cNvPr>
          <p:cNvSpPr/>
          <p:nvPr/>
        </p:nvSpPr>
        <p:spPr>
          <a:xfrm>
            <a:off x="1456866" y="4783211"/>
            <a:ext cx="170114" cy="17011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C4B2C2-3291-03F2-7129-2A051F230B21}"/>
              </a:ext>
            </a:extLst>
          </p:cNvPr>
          <p:cNvSpPr/>
          <p:nvPr/>
        </p:nvSpPr>
        <p:spPr>
          <a:xfrm>
            <a:off x="4982818" y="4868268"/>
            <a:ext cx="170114" cy="1701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02B062-8987-09DC-C7E8-9A025D0D6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1445303"/>
            <a:ext cx="4667250" cy="459105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799E2A-46A5-72E8-75F9-00617A91A76C}"/>
              </a:ext>
            </a:extLst>
          </p:cNvPr>
          <p:cNvSpPr/>
          <p:nvPr/>
        </p:nvSpPr>
        <p:spPr>
          <a:xfrm>
            <a:off x="3263968" y="1202764"/>
            <a:ext cx="6202018" cy="5136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Still showing points (X1, X2) from Sobol sampling.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71BB42D-201D-E00D-555E-6A93691DF8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17" b="86044"/>
          <a:stretch/>
        </p:blipFill>
        <p:spPr>
          <a:xfrm>
            <a:off x="9694226" y="1107144"/>
            <a:ext cx="2111955" cy="1137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32C73A7-E8F1-DBC1-E34A-0EDAE26BB149}"/>
                  </a:ext>
                </a:extLst>
              </p:cNvPr>
              <p:cNvSpPr/>
              <p:nvPr/>
            </p:nvSpPr>
            <p:spPr>
              <a:xfrm>
                <a:off x="3263968" y="5783790"/>
                <a:ext cx="6202018" cy="513651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The Sobol samples are on the Pareto Front w/r/t  </a:t>
                </a:r>
                <a14:m>
                  <m:oMath xmlns:m="http://schemas.openxmlformats.org/officeDocument/2006/math">
                    <m:r>
                      <a:rPr lang="en-US" sz="1800" b="1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𝐉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32C73A7-E8F1-DBC1-E34A-0EDAE26BB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968" y="5783790"/>
                <a:ext cx="6202018" cy="513651"/>
              </a:xfrm>
              <a:prstGeom prst="roundRect">
                <a:avLst/>
              </a:prstGeom>
              <a:blipFill>
                <a:blip r:embed="rId4"/>
                <a:stretch>
                  <a:fillRect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575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9B36-5BB2-4CAC-131E-F7E75B57F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B44C-35C5-0944-4F7E-9C15846F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DF3C-4E98-E36E-A602-3B8ACAD4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D346C-F718-85DC-DCA7-C97CEDF7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9C1BD-7C91-D633-98C1-12D0274A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4E7A250F-2D02-8235-9A0E-2B4A686548CB}"/>
                  </a:ext>
                </a:extLst>
              </p:cNvPr>
              <p:cNvSpPr/>
              <p:nvPr/>
            </p:nvSpPr>
            <p:spPr>
              <a:xfrm>
                <a:off x="4811523" y="2778049"/>
                <a:ext cx="2568953" cy="130189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Using objective definition: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– </m:t>
                                  </m:r>
                                  <m:sSubSup>
                                    <m:sSubSupPr>
                                      <m:ctrlPr>
                                        <a:rPr lang="en-US" sz="24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2400" b="1" i="1" dirty="0" err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24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4E7A250F-2D02-8235-9A0E-2B4A686548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23" y="2778049"/>
                <a:ext cx="2568953" cy="1301897"/>
              </a:xfrm>
              <a:prstGeom prst="roundRect">
                <a:avLst/>
              </a:prstGeom>
              <a:blipFill>
                <a:blip r:embed="rId2"/>
                <a:stretch>
                  <a:fillRect t="-31455" b="-239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785A00-546F-9567-6E33-3B1B50B54941}"/>
              </a:ext>
            </a:extLst>
          </p:cNvPr>
          <p:cNvSpPr/>
          <p:nvPr/>
        </p:nvSpPr>
        <p:spPr>
          <a:xfrm>
            <a:off x="1046923" y="1666459"/>
            <a:ext cx="3293166" cy="35250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A9277E-C018-45E3-7527-A89E88DFC41E}"/>
              </a:ext>
            </a:extLst>
          </p:cNvPr>
          <p:cNvSpPr/>
          <p:nvPr/>
        </p:nvSpPr>
        <p:spPr>
          <a:xfrm>
            <a:off x="1374915" y="1941442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structured samples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823203-FE09-4DCA-5AF3-1C433D7D603E}"/>
              </a:ext>
            </a:extLst>
          </p:cNvPr>
          <p:cNvSpPr/>
          <p:nvPr/>
        </p:nvSpPr>
        <p:spPr>
          <a:xfrm>
            <a:off x="1374915" y="3766240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 that samples lie on the Pareto Front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784B79-56F3-BE5A-744D-0D07B56D5F6B}"/>
              </a:ext>
            </a:extLst>
          </p:cNvPr>
          <p:cNvSpPr/>
          <p:nvPr/>
        </p:nvSpPr>
        <p:spPr>
          <a:xfrm>
            <a:off x="7851911" y="1666459"/>
            <a:ext cx="3293166" cy="3525079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AF2F7C3-09C7-6E93-4DA7-30D147CA6AEF}"/>
              </a:ext>
            </a:extLst>
          </p:cNvPr>
          <p:cNvSpPr/>
          <p:nvPr/>
        </p:nvSpPr>
        <p:spPr>
          <a:xfrm>
            <a:off x="8179902" y="1941442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Pareto Front using Borg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34C36D3-04C3-9167-8D76-978C0974C67F}"/>
              </a:ext>
            </a:extLst>
          </p:cNvPr>
          <p:cNvSpPr/>
          <p:nvPr/>
        </p:nvSpPr>
        <p:spPr>
          <a:xfrm>
            <a:off x="8206405" y="3766240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 that Pareto Front (projection) reflect structured samples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215219-3632-35AF-4E12-7CA80D3FBEE8}"/>
              </a:ext>
            </a:extLst>
          </p:cNvPr>
          <p:cNvCxnSpPr>
            <a:cxnSpLocks/>
          </p:cNvCxnSpPr>
          <p:nvPr/>
        </p:nvCxnSpPr>
        <p:spPr>
          <a:xfrm>
            <a:off x="2680255" y="2988365"/>
            <a:ext cx="0" cy="777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CA8461-0DF6-D313-FC52-0862108384D7}"/>
              </a:ext>
            </a:extLst>
          </p:cNvPr>
          <p:cNvCxnSpPr>
            <a:cxnSpLocks/>
          </p:cNvCxnSpPr>
          <p:nvPr/>
        </p:nvCxnSpPr>
        <p:spPr>
          <a:xfrm>
            <a:off x="9498493" y="2988364"/>
            <a:ext cx="0" cy="777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phic 25" descr="Checkmark with solid fill">
            <a:extLst>
              <a:ext uri="{FF2B5EF4-FFF2-40B4-BE49-F238E27FC236}">
                <a16:creationId xmlns:a16="http://schemas.microsoft.com/office/drawing/2014/main" id="{F1FB2455-FC6F-3470-FF36-32BB91EEE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744" y="10953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41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7ED3-684D-2CC0-4C23-AF691F04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0795-2192-45A1-AA4C-4BB329A5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D49E-A68F-D3F8-2262-01C991E0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FB4D1-DEFF-07F7-5C11-67A295A1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22173-5FD0-E74F-9DA9-AD25D3CF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3A7A49-F5BE-CA1D-1ABC-E7AF34038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78" r="65942" b="34202"/>
          <a:stretch/>
        </p:blipFill>
        <p:spPr>
          <a:xfrm>
            <a:off x="6605166" y="2090814"/>
            <a:ext cx="3699351" cy="3217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022815-B6FB-430C-7B81-02049E94A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275" r="67778"/>
          <a:stretch/>
        </p:blipFill>
        <p:spPr>
          <a:xfrm>
            <a:off x="1144318" y="2047461"/>
            <a:ext cx="3699351" cy="35274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1E66E4-C7E9-6F47-CE21-8BC03A7DAF94}"/>
              </a:ext>
            </a:extLst>
          </p:cNvPr>
          <p:cNvSpPr txBox="1"/>
          <p:nvPr/>
        </p:nvSpPr>
        <p:spPr>
          <a:xfrm rot="16200000">
            <a:off x="-138368" y="3386297"/>
            <a:ext cx="32205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</a:rPr>
              <a:t>L1 (Manhattan) Norm from X*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DDF1AF-EF1C-0C67-B17A-1C7298F2201F}"/>
              </a:ext>
            </a:extLst>
          </p:cNvPr>
          <p:cNvSpPr/>
          <p:nvPr/>
        </p:nvSpPr>
        <p:spPr>
          <a:xfrm>
            <a:off x="2735701" y="4698154"/>
            <a:ext cx="170114" cy="17011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99F39A0-D988-713C-D5C2-B2472F1777B0}"/>
              </a:ext>
            </a:extLst>
          </p:cNvPr>
          <p:cNvSpPr/>
          <p:nvPr/>
        </p:nvSpPr>
        <p:spPr>
          <a:xfrm>
            <a:off x="4062441" y="4721670"/>
            <a:ext cx="170114" cy="1701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D0D864-A3CC-884B-35B1-DD71996F0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17" b="86044"/>
          <a:stretch/>
        </p:blipFill>
        <p:spPr>
          <a:xfrm>
            <a:off x="9872434" y="879834"/>
            <a:ext cx="2111955" cy="113770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047E747-C0B5-2979-8F2E-A9C18E5D23A4}"/>
              </a:ext>
            </a:extLst>
          </p:cNvPr>
          <p:cNvSpPr/>
          <p:nvPr/>
        </p:nvSpPr>
        <p:spPr>
          <a:xfrm>
            <a:off x="7354760" y="4691727"/>
            <a:ext cx="170114" cy="170114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1E78CA-895A-9EDB-D297-7594E9353918}"/>
              </a:ext>
            </a:extLst>
          </p:cNvPr>
          <p:cNvSpPr/>
          <p:nvPr/>
        </p:nvSpPr>
        <p:spPr>
          <a:xfrm>
            <a:off x="9961956" y="2090815"/>
            <a:ext cx="170114" cy="1701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DE89E-8055-7D48-DA44-879288C3BB68}"/>
              </a:ext>
            </a:extLst>
          </p:cNvPr>
          <p:cNvSpPr/>
          <p:nvPr/>
        </p:nvSpPr>
        <p:spPr>
          <a:xfrm>
            <a:off x="2905815" y="5406887"/>
            <a:ext cx="1010202" cy="3793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F9A357-4C7A-5840-F57B-A1D2C287F732}"/>
              </a:ext>
            </a:extLst>
          </p:cNvPr>
          <p:cNvSpPr/>
          <p:nvPr/>
        </p:nvSpPr>
        <p:spPr>
          <a:xfrm>
            <a:off x="8267272" y="5333437"/>
            <a:ext cx="1010202" cy="3793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907DBB-E16D-72DC-00AF-EF3E97A9D6F0}"/>
              </a:ext>
            </a:extLst>
          </p:cNvPr>
          <p:cNvSpPr/>
          <p:nvPr/>
        </p:nvSpPr>
        <p:spPr>
          <a:xfrm rot="16200000">
            <a:off x="6100065" y="3178808"/>
            <a:ext cx="1010202" cy="3793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216084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8AFEA-358B-6727-3BD3-9A6CC24C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F04B-5CF1-D2F6-D053-63387A67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D588A-D47B-964D-3D5F-EEB6411E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59A4E-CAD2-588D-2C5C-7C58D73D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7AC07-B106-C92E-1169-98BB44430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D815D-C1AA-62AB-273A-BCB86297D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45" y="982709"/>
            <a:ext cx="5208110" cy="5208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4EF655-7964-45B4-0DA5-E8BEA28FE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96" y="1045670"/>
            <a:ext cx="5145149" cy="5145149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D0FFB2-0D14-392D-C167-5DC3ABFAEFB8}"/>
              </a:ext>
            </a:extLst>
          </p:cNvPr>
          <p:cNvSpPr/>
          <p:nvPr/>
        </p:nvSpPr>
        <p:spPr>
          <a:xfrm>
            <a:off x="273657" y="165840"/>
            <a:ext cx="10106113" cy="933027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Guess which dataset is an LHS and which is the PF generated by Borg?</a:t>
            </a:r>
          </a:p>
        </p:txBody>
      </p:sp>
    </p:spTree>
    <p:extLst>
      <p:ext uri="{BB962C8B-B14F-4D97-AF65-F5344CB8AC3E}">
        <p14:creationId xmlns:p14="http://schemas.microsoft.com/office/powerpoint/2010/main" val="2475825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EE52-FC74-B6A7-DA6A-0E005C1B5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DFA3-8176-4894-7F8D-459194858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17B24-6C4A-7313-9807-9FE25977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10F1C-F632-0BCC-1899-9C04EFA74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5DEF-CCDA-3980-47E6-B805E74A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E7E5C3-522A-6034-7B4A-9591E54CC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45" y="982709"/>
            <a:ext cx="5208110" cy="5208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AD0610-3A24-A9DC-FD11-D7BBF0FEB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96" y="1045670"/>
            <a:ext cx="5145149" cy="514514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E6032B-4035-979C-5C50-3D2F04ACF88F}"/>
              </a:ext>
            </a:extLst>
          </p:cNvPr>
          <p:cNvSpPr/>
          <p:nvPr/>
        </p:nvSpPr>
        <p:spPr>
          <a:xfrm>
            <a:off x="1613454" y="992649"/>
            <a:ext cx="4098233" cy="55659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Pareto Solutions from Borg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21E0D0-C1CB-760D-4049-9C52AB4719FB}"/>
              </a:ext>
            </a:extLst>
          </p:cNvPr>
          <p:cNvSpPr/>
          <p:nvPr/>
        </p:nvSpPr>
        <p:spPr>
          <a:xfrm>
            <a:off x="6950766" y="1045670"/>
            <a:ext cx="4098233" cy="55659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LHS Sample</a:t>
            </a:r>
          </a:p>
        </p:txBody>
      </p:sp>
    </p:spTree>
    <p:extLst>
      <p:ext uri="{BB962C8B-B14F-4D97-AF65-F5344CB8AC3E}">
        <p14:creationId xmlns:p14="http://schemas.microsoft.com/office/powerpoint/2010/main" val="375007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5006-A579-0DEC-605C-5EB98CE3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5986B-B931-F43D-E896-4766FE70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testing the concept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6A177-BA38-D513-3351-F942A5A8A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2555-1CCE-9E95-E1AD-6CC13D8D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C2FB6-7434-5845-10F2-2138DF8E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D6FB956-1C17-41F0-8C5E-37F2CEA7A6FB}"/>
                  </a:ext>
                </a:extLst>
              </p:cNvPr>
              <p:cNvSpPr/>
              <p:nvPr/>
            </p:nvSpPr>
            <p:spPr>
              <a:xfrm>
                <a:off x="4811523" y="2778049"/>
                <a:ext cx="2568953" cy="130189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Using objective definition: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– </m:t>
                                  </m:r>
                                  <m:sSubSup>
                                    <m:sSubSupPr>
                                      <m:ctrlPr>
                                        <a:rPr lang="en-US" sz="24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2400" b="1" i="1" dirty="0" err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24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ED6FB956-1C17-41F0-8C5E-37F2CEA7A6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23" y="2778049"/>
                <a:ext cx="2568953" cy="1301897"/>
              </a:xfrm>
              <a:prstGeom prst="roundRect">
                <a:avLst/>
              </a:prstGeom>
              <a:blipFill>
                <a:blip r:embed="rId2"/>
                <a:stretch>
                  <a:fillRect t="-31455" b="-239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B0D040-0CD6-AE3B-E85D-BA39FEAE335A}"/>
              </a:ext>
            </a:extLst>
          </p:cNvPr>
          <p:cNvSpPr/>
          <p:nvPr/>
        </p:nvSpPr>
        <p:spPr>
          <a:xfrm>
            <a:off x="1046923" y="1666459"/>
            <a:ext cx="3293166" cy="35250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C9CEBB-DFFC-1049-FB77-C73481EEFC94}"/>
              </a:ext>
            </a:extLst>
          </p:cNvPr>
          <p:cNvSpPr/>
          <p:nvPr/>
        </p:nvSpPr>
        <p:spPr>
          <a:xfrm>
            <a:off x="1374915" y="1941442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structured samples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954355-E2CF-342B-80BB-678B395C4A06}"/>
              </a:ext>
            </a:extLst>
          </p:cNvPr>
          <p:cNvSpPr/>
          <p:nvPr/>
        </p:nvSpPr>
        <p:spPr>
          <a:xfrm>
            <a:off x="1374915" y="3766240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 that samples lie on the Pareto Front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8876651-9DE5-3339-7F59-7F94A4209BD4}"/>
              </a:ext>
            </a:extLst>
          </p:cNvPr>
          <p:cNvSpPr/>
          <p:nvPr/>
        </p:nvSpPr>
        <p:spPr>
          <a:xfrm>
            <a:off x="7851911" y="1666459"/>
            <a:ext cx="3293166" cy="3525079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07A6C2-1B66-A31F-C599-AA013C6E23AB}"/>
              </a:ext>
            </a:extLst>
          </p:cNvPr>
          <p:cNvSpPr/>
          <p:nvPr/>
        </p:nvSpPr>
        <p:spPr>
          <a:xfrm>
            <a:off x="8179902" y="1941442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Pareto Front using Borg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F05F5B-36F0-8641-5A90-EE4EA9D16AEA}"/>
              </a:ext>
            </a:extLst>
          </p:cNvPr>
          <p:cNvSpPr/>
          <p:nvPr/>
        </p:nvSpPr>
        <p:spPr>
          <a:xfrm>
            <a:off x="8206405" y="3766240"/>
            <a:ext cx="2637183" cy="1046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Show that Pareto Front (projection) reflect structured samples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5A7AA4-709C-A6E8-5C34-A0F65B7D9AEA}"/>
              </a:ext>
            </a:extLst>
          </p:cNvPr>
          <p:cNvCxnSpPr>
            <a:cxnSpLocks/>
          </p:cNvCxnSpPr>
          <p:nvPr/>
        </p:nvCxnSpPr>
        <p:spPr>
          <a:xfrm>
            <a:off x="2680255" y="2988365"/>
            <a:ext cx="0" cy="777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69FFDA-6E91-EF35-6BA1-E2D47E122C0A}"/>
              </a:ext>
            </a:extLst>
          </p:cNvPr>
          <p:cNvCxnSpPr>
            <a:cxnSpLocks/>
          </p:cNvCxnSpPr>
          <p:nvPr/>
        </p:nvCxnSpPr>
        <p:spPr>
          <a:xfrm>
            <a:off x="9498493" y="2988364"/>
            <a:ext cx="0" cy="777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phic 25" descr="Checkmark with solid fill">
            <a:extLst>
              <a:ext uri="{FF2B5EF4-FFF2-40B4-BE49-F238E27FC236}">
                <a16:creationId xmlns:a16="http://schemas.microsoft.com/office/drawing/2014/main" id="{A1A24679-6743-F7F6-2A2B-0B6700EEB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744" y="1095305"/>
            <a:ext cx="914400" cy="9144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40BCEFC0-14A8-17F7-8E3E-3CEC37CB6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2223" y="10782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13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2962-53F5-66EE-9374-80126018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B8639-81E5-2105-E53A-D4CB768D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proposal: </a:t>
            </a:r>
            <a:r>
              <a:rPr lang="en-US" i="1" dirty="0"/>
              <a:t>Motivation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842B-8C3F-1D74-E906-8F0DD19A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690FC-EDE9-D315-C17C-55F0EFAC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959B-713C-6F95-9002-C12B00C0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16</a:t>
            </a:fld>
            <a:endParaRPr lang="en-U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0C5148D-9E00-9966-E807-BB56694F9CDA}"/>
              </a:ext>
            </a:extLst>
          </p:cNvPr>
          <p:cNvGrpSpPr/>
          <p:nvPr/>
        </p:nvGrpSpPr>
        <p:grpSpPr>
          <a:xfrm>
            <a:off x="1283079" y="2002561"/>
            <a:ext cx="6095999" cy="3541066"/>
            <a:chOff x="1283079" y="2002561"/>
            <a:chExt cx="6095999" cy="354106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A944308-BAE1-9007-C016-CEF46AA80EEC}"/>
                </a:ext>
              </a:extLst>
            </p:cNvPr>
            <p:cNvSpPr/>
            <p:nvPr/>
          </p:nvSpPr>
          <p:spPr>
            <a:xfrm>
              <a:off x="1283079" y="2002561"/>
              <a:ext cx="6095999" cy="354106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E0145F3-CE4F-2684-9E6C-AAF921647050}"/>
                </a:ext>
              </a:extLst>
            </p:cNvPr>
            <p:cNvSpPr/>
            <p:nvPr/>
          </p:nvSpPr>
          <p:spPr>
            <a:xfrm>
              <a:off x="1879426" y="3837524"/>
              <a:ext cx="2537791" cy="13514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Block Bootstrap Generator (Kirsch)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1BCBFD70-11B7-803E-032A-D20D28C050DF}"/>
                    </a:ext>
                  </a:extLst>
                </p:cNvPr>
                <p:cNvSpPr/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1BCBFD70-11B7-803E-032A-D20D28C050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FDEF6D07-3301-A0D3-3B36-68EB4E1B7AEC}"/>
                </a:ext>
              </a:extLst>
            </p:cNvPr>
            <p:cNvSpPr/>
            <p:nvPr/>
          </p:nvSpPr>
          <p:spPr>
            <a:xfrm>
              <a:off x="2267933" y="2597679"/>
              <a:ext cx="1770667" cy="820486"/>
            </a:xfrm>
            <a:prstGeom prst="roundRect">
              <a:avLst/>
            </a:prstGeom>
            <a:solidFill>
              <a:srgbClr val="C9A6E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Borg MOEA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D5EBDF8-5152-4290-95C9-FF44DCB82D6F}"/>
                </a:ext>
              </a:extLst>
            </p:cNvPr>
            <p:cNvCxnSpPr>
              <a:stCxn id="49" idx="2"/>
              <a:endCxn id="36" idx="0"/>
            </p:cNvCxnSpPr>
            <p:nvPr/>
          </p:nvCxnSpPr>
          <p:spPr>
            <a:xfrm flipH="1">
              <a:off x="3148321" y="3418165"/>
              <a:ext cx="4946" cy="5951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755D2BEF-3064-FF17-EE93-59048AAA9407}"/>
                    </a:ext>
                  </a:extLst>
                </p:cNvPr>
                <p:cNvSpPr/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755D2BEF-3064-FF17-EE93-59048AAA94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blipFill>
                  <a:blip r:embed="rId3"/>
                  <a:stretch>
                    <a:fillRect l="-15942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39B5722-93EA-0F47-AD2D-E0EFB0506D26}"/>
                    </a:ext>
                  </a:extLst>
                </p:cNvPr>
                <p:cNvSpPr/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39B5722-93EA-0F47-AD2D-E0EFB0506D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blipFill>
                  <a:blip r:embed="rId4"/>
                  <a:stretch>
                    <a:fillRect l="-11594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09CDF40-57FF-B033-403F-54AC4E622908}"/>
                </a:ext>
              </a:extLst>
            </p:cNvPr>
            <p:cNvCxnSpPr>
              <a:stCxn id="36" idx="6"/>
              <a:endCxn id="63" idx="2"/>
            </p:cNvCxnSpPr>
            <p:nvPr/>
          </p:nvCxnSpPr>
          <p:spPr>
            <a:xfrm>
              <a:off x="3351918" y="4222819"/>
              <a:ext cx="274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D6617FA2-BA1E-E625-559A-6FB8714665AE}"/>
                    </a:ext>
                  </a:extLst>
                </p:cNvPr>
                <p:cNvSpPr txBox="1"/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D6617FA2-BA1E-E625-559A-6FB871466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8FE5D76-ED9F-DE3E-43A9-9C576284BCCC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4417217" y="4513247"/>
              <a:ext cx="9366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C5D3BC-F0EF-A64B-DA70-9F1CE4464DB1}"/>
                </a:ext>
              </a:extLst>
            </p:cNvPr>
            <p:cNvGrpSpPr/>
            <p:nvPr/>
          </p:nvGrpSpPr>
          <p:grpSpPr>
            <a:xfrm>
              <a:off x="5353878" y="4122014"/>
              <a:ext cx="838200" cy="825243"/>
              <a:chOff x="4820789" y="3179067"/>
              <a:chExt cx="838200" cy="825243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B6407CD-B639-6F7A-101E-A569D106CD9F}"/>
                  </a:ext>
                </a:extLst>
              </p:cNvPr>
              <p:cNvSpPr/>
              <p:nvPr/>
            </p:nvSpPr>
            <p:spPr>
              <a:xfrm>
                <a:off x="4820789" y="3179067"/>
                <a:ext cx="838200" cy="8252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E846E0E-4B2A-57EE-5078-1E5F2D1E754E}"/>
                  </a:ext>
                </a:extLst>
              </p:cNvPr>
              <p:cNvCxnSpPr/>
              <p:nvPr/>
            </p:nvCxnSpPr>
            <p:spPr>
              <a:xfrm>
                <a:off x="4884289" y="3853575"/>
                <a:ext cx="711200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B1810C3-E587-8AD3-6B0C-8A35590807D3}"/>
                    </a:ext>
                  </a:extLst>
                </p:cNvPr>
                <p:cNvSpPr txBox="1"/>
                <p:nvPr/>
              </p:nvSpPr>
              <p:spPr>
                <a:xfrm>
                  <a:off x="5629424" y="4343519"/>
                  <a:ext cx="32173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B1810C3-E587-8AD3-6B0C-8A3559080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24" y="4343519"/>
                  <a:ext cx="321733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8302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C26B338B-9A52-2C47-F94A-4D9D9AC44954}"/>
                    </a:ext>
                  </a:extLst>
                </p:cNvPr>
                <p:cNvSpPr/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C26B338B-9A52-2C47-F94A-4D9D9AC449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3A2AF86-0D76-7344-850F-0DB20376F607}"/>
                </a:ext>
              </a:extLst>
            </p:cNvPr>
            <p:cNvCxnSpPr>
              <a:cxnSpLocks/>
              <a:stCxn id="18" idx="0"/>
              <a:endCxn id="52" idx="4"/>
            </p:cNvCxnSpPr>
            <p:nvPr/>
          </p:nvCxnSpPr>
          <p:spPr>
            <a:xfrm flipV="1">
              <a:off x="5772978" y="3251154"/>
              <a:ext cx="0" cy="8708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B0945DF-E02B-9A21-0FDA-DA450FF250F9}"/>
                </a:ext>
              </a:extLst>
            </p:cNvPr>
            <p:cNvCxnSpPr>
              <a:cxnSpLocks/>
              <a:stCxn id="52" idx="2"/>
              <a:endCxn id="49" idx="3"/>
            </p:cNvCxnSpPr>
            <p:nvPr/>
          </p:nvCxnSpPr>
          <p:spPr>
            <a:xfrm flipH="1">
              <a:off x="4038600" y="3007922"/>
              <a:ext cx="14911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A5E58CD-114B-CD93-DF8E-C3EF59AF995E}"/>
                </a:ext>
              </a:extLst>
            </p:cNvPr>
            <p:cNvSpPr txBox="1"/>
            <p:nvPr/>
          </p:nvSpPr>
          <p:spPr>
            <a:xfrm>
              <a:off x="5174974" y="2458278"/>
              <a:ext cx="1179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Obj.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16B1FF2D-55A5-ECBF-8EAD-821F8CCD17D1}"/>
                    </a:ext>
                  </a:extLst>
                </p:cNvPr>
                <p:cNvSpPr/>
                <p:nvPr/>
              </p:nvSpPr>
              <p:spPr>
                <a:xfrm>
                  <a:off x="6255164" y="2764488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16B1FF2D-55A5-ECBF-8EAD-821F8CCD17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164" y="2764488"/>
                  <a:ext cx="486464" cy="48646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4309D9B-FEDC-8895-728C-DC12AC15FCC4}"/>
                </a:ext>
              </a:extLst>
            </p:cNvPr>
            <p:cNvSpPr txBox="1"/>
            <p:nvPr/>
          </p:nvSpPr>
          <p:spPr>
            <a:xfrm>
              <a:off x="5900392" y="2458076"/>
              <a:ext cx="1179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Constr.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E5FBBD01-9922-1B80-C402-B12AE7A84E30}"/>
                </a:ext>
              </a:extLst>
            </p:cNvPr>
            <p:cNvCxnSpPr>
              <a:cxnSpLocks/>
              <a:stCxn id="18" idx="0"/>
              <a:endCxn id="125" idx="4"/>
            </p:cNvCxnSpPr>
            <p:nvPr/>
          </p:nvCxnSpPr>
          <p:spPr>
            <a:xfrm flipV="1">
              <a:off x="5772978" y="3250952"/>
              <a:ext cx="725418" cy="8710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E8BF315B-5D2C-1FDD-DB1B-09E62C134F77}"/>
              </a:ext>
            </a:extLst>
          </p:cNvPr>
          <p:cNvSpPr txBox="1"/>
          <p:nvPr/>
        </p:nvSpPr>
        <p:spPr>
          <a:xfrm>
            <a:off x="1473578" y="1163874"/>
            <a:ext cx="58872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Use Borg to search for bootstrap samplings that result in </a:t>
            </a:r>
            <a:r>
              <a:rPr lang="en-US" sz="2000" b="1" dirty="0"/>
              <a:t>sampling of </a:t>
            </a:r>
            <a:r>
              <a:rPr lang="en-US" sz="2000" b="1" i="1" dirty="0"/>
              <a:t>any </a:t>
            </a:r>
            <a:r>
              <a:rPr lang="en-US" sz="2000" b="1" dirty="0"/>
              <a:t>desired drought characteristics</a:t>
            </a:r>
            <a:r>
              <a:rPr lang="en-US" sz="2000" dirty="0"/>
              <a:t>.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9E4378C-7201-C8D3-6809-91EB79520548}"/>
              </a:ext>
            </a:extLst>
          </p:cNvPr>
          <p:cNvCxnSpPr>
            <a:stCxn id="125" idx="2"/>
            <a:endCxn id="52" idx="6"/>
          </p:cNvCxnSpPr>
          <p:nvPr/>
        </p:nvCxnSpPr>
        <p:spPr>
          <a:xfrm flipH="1">
            <a:off x="6016210" y="3007720"/>
            <a:ext cx="238954" cy="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8C6347E-9FC2-95E2-C001-F296238EBDBE}"/>
              </a:ext>
            </a:extLst>
          </p:cNvPr>
          <p:cNvGrpSpPr/>
          <p:nvPr/>
        </p:nvGrpSpPr>
        <p:grpSpPr>
          <a:xfrm>
            <a:off x="8259466" y="4363726"/>
            <a:ext cx="838200" cy="825243"/>
            <a:chOff x="1778000" y="3179067"/>
            <a:chExt cx="838200" cy="825243"/>
          </a:xfrm>
          <a:solidFill>
            <a:schemeClr val="accent6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27E241-9F5B-2017-BC36-BB6DF3807045}"/>
                </a:ext>
              </a:extLst>
            </p:cNvPr>
            <p:cNvSpPr/>
            <p:nvPr/>
          </p:nvSpPr>
          <p:spPr>
            <a:xfrm>
              <a:off x="1778000" y="3179067"/>
              <a:ext cx="838200" cy="82524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3C64C84-BBEB-C348-454E-DE513260B99C}"/>
                </a:ext>
              </a:extLst>
            </p:cNvPr>
            <p:cNvSpPr/>
            <p:nvPr/>
          </p:nvSpPr>
          <p:spPr>
            <a:xfrm>
              <a:off x="1905977" y="3324405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B40796-2356-20A5-3036-1A44782F88C7}"/>
                </a:ext>
              </a:extLst>
            </p:cNvPr>
            <p:cNvSpPr/>
            <p:nvPr/>
          </p:nvSpPr>
          <p:spPr>
            <a:xfrm>
              <a:off x="2371644" y="3324405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B73F15-91E6-CB00-E42A-F48460A552DE}"/>
                </a:ext>
              </a:extLst>
            </p:cNvPr>
            <p:cNvSpPr/>
            <p:nvPr/>
          </p:nvSpPr>
          <p:spPr>
            <a:xfrm>
              <a:off x="2144183" y="3430239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C5398F2-5CCF-C892-0901-4BF882C5AFE1}"/>
                </a:ext>
              </a:extLst>
            </p:cNvPr>
            <p:cNvSpPr/>
            <p:nvPr/>
          </p:nvSpPr>
          <p:spPr>
            <a:xfrm>
              <a:off x="1916722" y="3536073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B7AD0D4-EAA9-2976-6A82-886B59320E5D}"/>
                </a:ext>
              </a:extLst>
            </p:cNvPr>
            <p:cNvSpPr/>
            <p:nvPr/>
          </p:nvSpPr>
          <p:spPr>
            <a:xfrm>
              <a:off x="2371644" y="3536073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42D5718-EC22-B5A7-90CB-5B98F74C7F4B}"/>
                </a:ext>
              </a:extLst>
            </p:cNvPr>
            <p:cNvSpPr/>
            <p:nvPr/>
          </p:nvSpPr>
          <p:spPr>
            <a:xfrm>
              <a:off x="2144183" y="3686025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4DEA7B9-14E2-65FA-81FE-CC5183BEAA1E}"/>
                </a:ext>
              </a:extLst>
            </p:cNvPr>
            <p:cNvSpPr/>
            <p:nvPr/>
          </p:nvSpPr>
          <p:spPr>
            <a:xfrm>
              <a:off x="1910211" y="3791859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DFA297-6E18-4D59-777D-BA9E906D70EB}"/>
                </a:ext>
              </a:extLst>
            </p:cNvPr>
            <p:cNvSpPr/>
            <p:nvPr/>
          </p:nvSpPr>
          <p:spPr>
            <a:xfrm>
              <a:off x="2378155" y="3791859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5E310C-97A7-2860-A1D2-36D265EA28A4}"/>
                  </a:ext>
                </a:extLst>
              </p:cNvPr>
              <p:cNvSpPr txBox="1"/>
              <p:nvPr/>
            </p:nvSpPr>
            <p:spPr>
              <a:xfrm>
                <a:off x="8537888" y="5174295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5E310C-97A7-2860-A1D2-36D265EA2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888" y="5174295"/>
                <a:ext cx="321733" cy="369332"/>
              </a:xfrm>
              <a:prstGeom prst="rect">
                <a:avLst/>
              </a:prstGeom>
              <a:blipFill>
                <a:blip r:embed="rId9"/>
                <a:stretch>
                  <a:fillRect l="-32692" r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8EE490D-B97F-C7A2-9614-49F2CB4C8F98}"/>
              </a:ext>
            </a:extLst>
          </p:cNvPr>
          <p:cNvGrpSpPr/>
          <p:nvPr/>
        </p:nvGrpSpPr>
        <p:grpSpPr>
          <a:xfrm>
            <a:off x="8259466" y="3218496"/>
            <a:ext cx="838200" cy="825243"/>
            <a:chOff x="4820789" y="3179067"/>
            <a:chExt cx="838200" cy="82524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4979537-4D64-F83B-5D62-177341261D6D}"/>
                </a:ext>
              </a:extLst>
            </p:cNvPr>
            <p:cNvSpPr/>
            <p:nvPr/>
          </p:nvSpPr>
          <p:spPr>
            <a:xfrm>
              <a:off x="4820789" y="3179067"/>
              <a:ext cx="838200" cy="82524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FFDE032-1759-0E30-91D7-93B89E97322D}"/>
                </a:ext>
              </a:extLst>
            </p:cNvPr>
            <p:cNvCxnSpPr/>
            <p:nvPr/>
          </p:nvCxnSpPr>
          <p:spPr>
            <a:xfrm>
              <a:off x="4884289" y="3853575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9E011B0-7C7A-2C6E-F705-FBFA76FA2193}"/>
                </a:ext>
              </a:extLst>
            </p:cNvPr>
            <p:cNvCxnSpPr/>
            <p:nvPr/>
          </p:nvCxnSpPr>
          <p:spPr>
            <a:xfrm>
              <a:off x="4884289" y="3743782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6C60707-8D96-379B-AA5A-3679AE1F0800}"/>
                </a:ext>
              </a:extLst>
            </p:cNvPr>
            <p:cNvCxnSpPr/>
            <p:nvPr/>
          </p:nvCxnSpPr>
          <p:spPr>
            <a:xfrm>
              <a:off x="4884289" y="3633989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3EF12FB-805F-422F-2131-FEC13D69C8A3}"/>
                </a:ext>
              </a:extLst>
            </p:cNvPr>
            <p:cNvCxnSpPr/>
            <p:nvPr/>
          </p:nvCxnSpPr>
          <p:spPr>
            <a:xfrm>
              <a:off x="4884289" y="3524196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8CA5B9-EB87-5157-256B-4DC5C2508A41}"/>
                </a:ext>
              </a:extLst>
            </p:cNvPr>
            <p:cNvCxnSpPr/>
            <p:nvPr/>
          </p:nvCxnSpPr>
          <p:spPr>
            <a:xfrm>
              <a:off x="4884289" y="3414403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659A68B-8992-B91B-C011-0DC1EE4B0906}"/>
                </a:ext>
              </a:extLst>
            </p:cNvPr>
            <p:cNvCxnSpPr/>
            <p:nvPr/>
          </p:nvCxnSpPr>
          <p:spPr>
            <a:xfrm>
              <a:off x="4884289" y="3304610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23EB36-BF59-DFE0-EC70-313E009BB485}"/>
                  </a:ext>
                </a:extLst>
              </p:cNvPr>
              <p:cNvSpPr txBox="1"/>
              <p:nvPr/>
            </p:nvSpPr>
            <p:spPr>
              <a:xfrm>
                <a:off x="8535012" y="3440001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23EB36-BF59-DFE0-EC70-313E009BB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012" y="3440001"/>
                <a:ext cx="321733" cy="369332"/>
              </a:xfrm>
              <a:prstGeom prst="rect">
                <a:avLst/>
              </a:prstGeom>
              <a:blipFill>
                <a:blip r:embed="rId10"/>
                <a:stretch>
                  <a:fillRect l="-28302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B74D7D-F56B-7EF4-36DE-64E000A76A27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8678566" y="4043739"/>
            <a:ext cx="0" cy="3087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1F91D-F4C4-F690-B7D7-CE7BC19B1FC9}"/>
                  </a:ext>
                </a:extLst>
              </p:cNvPr>
              <p:cNvSpPr txBox="1"/>
              <p:nvPr/>
            </p:nvSpPr>
            <p:spPr>
              <a:xfrm>
                <a:off x="7851520" y="4577773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C1F91D-F4C4-F690-B7D7-CE7BC19B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520" y="4577773"/>
                <a:ext cx="321733" cy="369332"/>
              </a:xfrm>
              <a:prstGeom prst="rect">
                <a:avLst/>
              </a:prstGeom>
              <a:blipFill>
                <a:blip r:embed="rId11"/>
                <a:stretch>
                  <a:fillRect l="-39623" r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4A89FABD-BBE1-353B-6841-2FBC2CBE2159}"/>
              </a:ext>
            </a:extLst>
          </p:cNvPr>
          <p:cNvSpPr/>
          <p:nvPr/>
        </p:nvSpPr>
        <p:spPr>
          <a:xfrm>
            <a:off x="8259466" y="4352516"/>
            <a:ext cx="838200" cy="82524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C6924A-5CB1-0349-2CEF-0867E9CC2F8F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7379078" y="3631118"/>
            <a:ext cx="8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7D4C040-E02A-B703-7747-A62B9F0F8646}"/>
              </a:ext>
            </a:extLst>
          </p:cNvPr>
          <p:cNvSpPr txBox="1"/>
          <p:nvPr/>
        </p:nvSpPr>
        <p:spPr>
          <a:xfrm>
            <a:off x="9332117" y="4055076"/>
            <a:ext cx="25683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 multi-objective context, the Pareto Front can correspond to the ensemble of synthetic droughts.</a:t>
            </a:r>
          </a:p>
        </p:txBody>
      </p:sp>
    </p:spTree>
    <p:extLst>
      <p:ext uri="{BB962C8B-B14F-4D97-AF65-F5344CB8AC3E}">
        <p14:creationId xmlns:p14="http://schemas.microsoft.com/office/powerpoint/2010/main" val="2001931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8576-D7F1-1139-6EFD-68EFC050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A343-01A3-8147-B554-909B804A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CD10A-7B68-A665-072C-497012F7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62031-5650-12A1-B160-69E28F6D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103C3-138D-3F53-C195-1E3D74BF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784C6-0F65-BA0A-1A33-0B6D95F06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90" y="1045660"/>
            <a:ext cx="5208110" cy="52081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E0B9B2F-92E4-8BEB-60A7-2E90B3DEA24C}"/>
                  </a:ext>
                </a:extLst>
              </p:cNvPr>
              <p:cNvSpPr/>
              <p:nvPr/>
            </p:nvSpPr>
            <p:spPr>
              <a:xfrm>
                <a:off x="4015405" y="5683544"/>
                <a:ext cx="4114799" cy="4283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𝐷𝑟𝑜𝑢𝑔h𝑡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𝐼𝑛𝑡𝑒𝑛𝑠𝑖𝑡𝑦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E0B9B2F-92E4-8BEB-60A7-2E90B3DEA2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405" y="5683544"/>
                <a:ext cx="4114799" cy="428375"/>
              </a:xfrm>
              <a:prstGeom prst="rect">
                <a:avLst/>
              </a:prstGeom>
              <a:blipFill>
                <a:blip r:embed="rId3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B867BC-9824-0C23-4191-CFCAFF2965BC}"/>
                  </a:ext>
                </a:extLst>
              </p:cNvPr>
              <p:cNvSpPr/>
              <p:nvPr/>
            </p:nvSpPr>
            <p:spPr>
              <a:xfrm rot="16200000">
                <a:off x="1725259" y="3396707"/>
                <a:ext cx="4066778" cy="5599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𝐷𝑟𝑜𝑢𝑔h𝑡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𝐷𝑢𝑟𝑎𝑡𝑖𝑜𝑛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B867BC-9824-0C23-4191-CFCAFF2965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25259" y="3396707"/>
                <a:ext cx="4066778" cy="559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D15B64E0-1347-CDAD-9E22-8E87E602D42F}"/>
              </a:ext>
            </a:extLst>
          </p:cNvPr>
          <p:cNvSpPr/>
          <p:nvPr/>
        </p:nvSpPr>
        <p:spPr>
          <a:xfrm>
            <a:off x="5965711" y="3602438"/>
            <a:ext cx="214188" cy="21418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BA8A08-C164-7C93-91CC-D1EF49B7A818}"/>
              </a:ext>
            </a:extLst>
          </p:cNvPr>
          <p:cNvSpPr/>
          <p:nvPr/>
        </p:nvSpPr>
        <p:spPr>
          <a:xfrm>
            <a:off x="8776425" y="3468756"/>
            <a:ext cx="2577375" cy="365125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Historic Mean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2904B0-1084-4D15-575B-70B67E925081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6179899" y="3651319"/>
            <a:ext cx="2596526" cy="582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EBAA504-3E88-EE70-8632-F86C61FDD001}"/>
              </a:ext>
            </a:extLst>
          </p:cNvPr>
          <p:cNvSpPr txBox="1"/>
          <p:nvPr/>
        </p:nvSpPr>
        <p:spPr>
          <a:xfrm>
            <a:off x="8878957" y="5837583"/>
            <a:ext cx="246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*Mock-up, not real data</a:t>
            </a:r>
          </a:p>
        </p:txBody>
      </p:sp>
    </p:spTree>
    <p:extLst>
      <p:ext uri="{BB962C8B-B14F-4D97-AF65-F5344CB8AC3E}">
        <p14:creationId xmlns:p14="http://schemas.microsoft.com/office/powerpoint/2010/main" val="3719558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DE95-F0D2-54AE-3052-A4FFD644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3308-FBD0-C0E0-FE84-9A9AD3F6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C8BF9-6E0F-BF4E-0AD1-732F19AE5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42386-C640-346A-03E0-E82ECE16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87A6-8B1F-60B8-652A-7EBD04C3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DC4D11-B15D-74D4-E96B-196268781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90" y="1045660"/>
            <a:ext cx="5208110" cy="52081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96AB64F-8969-DB9D-0EEF-0BFC122AD39F}"/>
                  </a:ext>
                </a:extLst>
              </p:cNvPr>
              <p:cNvSpPr/>
              <p:nvPr/>
            </p:nvSpPr>
            <p:spPr>
              <a:xfrm>
                <a:off x="4015405" y="5683544"/>
                <a:ext cx="4114799" cy="4283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𝐷𝑟𝑜𝑢𝑔h𝑡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𝐼𝑛𝑡𝑒𝑛𝑠𝑖𝑡𝑦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96AB64F-8969-DB9D-0EEF-0BFC122AD3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405" y="5683544"/>
                <a:ext cx="4114799" cy="428375"/>
              </a:xfrm>
              <a:prstGeom prst="rect">
                <a:avLst/>
              </a:prstGeom>
              <a:blipFill>
                <a:blip r:embed="rId3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8EE36F6-347D-AFE2-5A44-90BAB007F596}"/>
                  </a:ext>
                </a:extLst>
              </p:cNvPr>
              <p:cNvSpPr/>
              <p:nvPr/>
            </p:nvSpPr>
            <p:spPr>
              <a:xfrm rot="16200000">
                <a:off x="1725259" y="3396707"/>
                <a:ext cx="4066778" cy="5599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𝐷𝑟𝑜𝑢𝑔h𝑡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𝐷𝑢𝑟𝑎𝑡𝑖𝑜𝑛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8EE36F6-347D-AFE2-5A44-90BAB007F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25259" y="3396707"/>
                <a:ext cx="4066778" cy="559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81CD8224-3BFF-6646-ED95-EB989944742B}"/>
              </a:ext>
            </a:extLst>
          </p:cNvPr>
          <p:cNvSpPr/>
          <p:nvPr/>
        </p:nvSpPr>
        <p:spPr>
          <a:xfrm>
            <a:off x="5965711" y="3602438"/>
            <a:ext cx="214188" cy="21418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E21155-505A-D37D-85E8-BB5346DFB3E6}"/>
              </a:ext>
            </a:extLst>
          </p:cNvPr>
          <p:cNvSpPr/>
          <p:nvPr/>
        </p:nvSpPr>
        <p:spPr>
          <a:xfrm>
            <a:off x="8776425" y="3468756"/>
            <a:ext cx="2577375" cy="365125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Historic Mean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36666-A8A7-1A36-DE6F-C65BB9E4F89F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6179899" y="3651319"/>
            <a:ext cx="2596526" cy="582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4BE93B8-8F71-E56E-DD3C-AF7B48127B44}"/>
              </a:ext>
            </a:extLst>
          </p:cNvPr>
          <p:cNvSpPr txBox="1"/>
          <p:nvPr/>
        </p:nvSpPr>
        <p:spPr>
          <a:xfrm>
            <a:off x="8878957" y="5837583"/>
            <a:ext cx="246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*Mock-up, not real data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F01F4C5-1F1F-949E-D672-FFE5E6A775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67" b="8354"/>
          <a:stretch/>
        </p:blipFill>
        <p:spPr>
          <a:xfrm>
            <a:off x="8343804" y="80741"/>
            <a:ext cx="3786730" cy="2910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E76031EC-9F8F-5EBE-0A1A-3B5DCFB5B967}"/>
              </a:ext>
            </a:extLst>
          </p:cNvPr>
          <p:cNvSpPr/>
          <p:nvPr/>
        </p:nvSpPr>
        <p:spPr>
          <a:xfrm>
            <a:off x="9305259" y="985421"/>
            <a:ext cx="214188" cy="21418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3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9EA8B-A72C-52BF-0D1C-51BB0D2D2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D31C-C5DB-45C9-34B4-A142856D2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1504B-9382-73CA-8446-1C541C77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ABD75-9218-FE4F-739A-0D056DFB4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547FB-CB83-2296-573B-6F383463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FC8985-BE98-A251-B464-6FD01D8BD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490" y="1045660"/>
            <a:ext cx="5208110" cy="52081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2775B2-368C-1A1F-C1F1-C673D1E76697}"/>
                  </a:ext>
                </a:extLst>
              </p:cNvPr>
              <p:cNvSpPr/>
              <p:nvPr/>
            </p:nvSpPr>
            <p:spPr>
              <a:xfrm>
                <a:off x="4015405" y="5683544"/>
                <a:ext cx="4114799" cy="4283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𝐷𝑟𝑜𝑢𝑔h𝑡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𝐼𝑛𝑡𝑒𝑛𝑠𝑖𝑡𝑦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2775B2-368C-1A1F-C1F1-C673D1E76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405" y="5683544"/>
                <a:ext cx="4114799" cy="428375"/>
              </a:xfrm>
              <a:prstGeom prst="rect">
                <a:avLst/>
              </a:prstGeom>
              <a:blipFill>
                <a:blip r:embed="rId3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609CF1-AA83-8A5E-79D9-258B8B4EB781}"/>
                  </a:ext>
                </a:extLst>
              </p:cNvPr>
              <p:cNvSpPr/>
              <p:nvPr/>
            </p:nvSpPr>
            <p:spPr>
              <a:xfrm rot="16200000">
                <a:off x="1725259" y="3396707"/>
                <a:ext cx="4066778" cy="5599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𝐷𝑟𝑜𝑢𝑔h𝑡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𝐷𝑢𝑟𝑎𝑡𝑖𝑜𝑛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609CF1-AA83-8A5E-79D9-258B8B4EB7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25259" y="3396707"/>
                <a:ext cx="4066778" cy="559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F6A293A7-1B3B-6A0C-4A42-5ADDBAF8FD9B}"/>
              </a:ext>
            </a:extLst>
          </p:cNvPr>
          <p:cNvSpPr/>
          <p:nvPr/>
        </p:nvSpPr>
        <p:spPr>
          <a:xfrm>
            <a:off x="5965711" y="3602438"/>
            <a:ext cx="214188" cy="21418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8FC674-BAC9-7399-B38E-EA170419D61B}"/>
              </a:ext>
            </a:extLst>
          </p:cNvPr>
          <p:cNvSpPr/>
          <p:nvPr/>
        </p:nvSpPr>
        <p:spPr>
          <a:xfrm>
            <a:off x="6790669" y="2406768"/>
            <a:ext cx="214188" cy="2141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266892C-12AA-BCCD-B23E-80D7BC185F05}"/>
              </a:ext>
            </a:extLst>
          </p:cNvPr>
          <p:cNvSpPr/>
          <p:nvPr/>
        </p:nvSpPr>
        <p:spPr>
          <a:xfrm>
            <a:off x="7371068" y="2128318"/>
            <a:ext cx="214188" cy="21418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977588C-21AC-2BA6-97FA-ABB4FFB7F78D}"/>
              </a:ext>
            </a:extLst>
          </p:cNvPr>
          <p:cNvSpPr/>
          <p:nvPr/>
        </p:nvSpPr>
        <p:spPr>
          <a:xfrm>
            <a:off x="5321948" y="5200678"/>
            <a:ext cx="214188" cy="214188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EE225BB-8829-2BFC-6745-25A28BBAB6D4}"/>
              </a:ext>
            </a:extLst>
          </p:cNvPr>
          <p:cNvSpPr/>
          <p:nvPr/>
        </p:nvSpPr>
        <p:spPr>
          <a:xfrm>
            <a:off x="5573657" y="4376661"/>
            <a:ext cx="214188" cy="214188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D50E76-9841-8CD2-76C7-BF069B89820E}"/>
              </a:ext>
            </a:extLst>
          </p:cNvPr>
          <p:cNvSpPr/>
          <p:nvPr/>
        </p:nvSpPr>
        <p:spPr>
          <a:xfrm>
            <a:off x="4221421" y="4846830"/>
            <a:ext cx="214188" cy="214188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1947E1-9C8B-1252-E3A7-3DDA0EEB773A}"/>
              </a:ext>
            </a:extLst>
          </p:cNvPr>
          <p:cNvSpPr/>
          <p:nvPr/>
        </p:nvSpPr>
        <p:spPr>
          <a:xfrm>
            <a:off x="6576481" y="4739895"/>
            <a:ext cx="214188" cy="214188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DB8072-0E81-3C73-52E0-8A71B098E57F}"/>
              </a:ext>
            </a:extLst>
          </p:cNvPr>
          <p:cNvSpPr/>
          <p:nvPr/>
        </p:nvSpPr>
        <p:spPr>
          <a:xfrm>
            <a:off x="8776425" y="3468756"/>
            <a:ext cx="2577375" cy="365125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Historic Mean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B8648C-EB44-5244-F2A9-B879C2052BC9}"/>
              </a:ext>
            </a:extLst>
          </p:cNvPr>
          <p:cNvSpPr/>
          <p:nvPr/>
        </p:nvSpPr>
        <p:spPr>
          <a:xfrm>
            <a:off x="8401878" y="2801516"/>
            <a:ext cx="3578087" cy="365125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1960s (e.g., Reconstruction Median)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574993-096E-2687-FE89-939130AFFEC1}"/>
              </a:ext>
            </a:extLst>
          </p:cNvPr>
          <p:cNvSpPr/>
          <p:nvPr/>
        </p:nvSpPr>
        <p:spPr>
          <a:xfrm>
            <a:off x="8786987" y="4072986"/>
            <a:ext cx="2556250" cy="3651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Other historic droughts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D35D0C-A174-E207-D1BB-AD72D89B98B7}"/>
              </a:ext>
            </a:extLst>
          </p:cNvPr>
          <p:cNvSpPr/>
          <p:nvPr/>
        </p:nvSpPr>
        <p:spPr>
          <a:xfrm>
            <a:off x="8776425" y="2195802"/>
            <a:ext cx="2577374" cy="365125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WRF 2050s Scenario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972D618-FF12-E0C0-9253-CBC19FCA121F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6179899" y="3651319"/>
            <a:ext cx="2596526" cy="582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709A29-5985-783E-AC7B-1DA19074CA55}"/>
              </a:ext>
            </a:extLst>
          </p:cNvPr>
          <p:cNvCxnSpPr>
            <a:cxnSpLocks/>
            <a:stCxn id="13" idx="6"/>
            <a:endCxn id="21" idx="1"/>
          </p:cNvCxnSpPr>
          <p:nvPr/>
        </p:nvCxnSpPr>
        <p:spPr>
          <a:xfrm>
            <a:off x="7004857" y="2513862"/>
            <a:ext cx="1397021" cy="47021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1D2B84-913C-665A-F025-8D1B63ACA5C4}"/>
              </a:ext>
            </a:extLst>
          </p:cNvPr>
          <p:cNvCxnSpPr>
            <a:cxnSpLocks/>
            <a:stCxn id="14" idx="6"/>
            <a:endCxn id="23" idx="1"/>
          </p:cNvCxnSpPr>
          <p:nvPr/>
        </p:nvCxnSpPr>
        <p:spPr>
          <a:xfrm>
            <a:off x="7585256" y="2235412"/>
            <a:ext cx="1191169" cy="1429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D2A1B8-7E8C-93A4-23D1-0B2A1F0EAF58}"/>
              </a:ext>
            </a:extLst>
          </p:cNvPr>
          <p:cNvCxnSpPr>
            <a:cxnSpLocks/>
            <a:stCxn id="16" idx="6"/>
            <a:endCxn id="22" idx="1"/>
          </p:cNvCxnSpPr>
          <p:nvPr/>
        </p:nvCxnSpPr>
        <p:spPr>
          <a:xfrm flipV="1">
            <a:off x="5787845" y="4255549"/>
            <a:ext cx="2999142" cy="22820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6CC4C60-0992-8CA2-21D3-26470E8FB70B}"/>
              </a:ext>
            </a:extLst>
          </p:cNvPr>
          <p:cNvCxnSpPr>
            <a:cxnSpLocks/>
            <a:stCxn id="19" idx="7"/>
            <a:endCxn id="22" idx="1"/>
          </p:cNvCxnSpPr>
          <p:nvPr/>
        </p:nvCxnSpPr>
        <p:spPr>
          <a:xfrm flipV="1">
            <a:off x="6759302" y="4255549"/>
            <a:ext cx="2027685" cy="51571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524DDB3-BB84-BA6E-71C7-D799630838FC}"/>
              </a:ext>
            </a:extLst>
          </p:cNvPr>
          <p:cNvSpPr/>
          <p:nvPr/>
        </p:nvSpPr>
        <p:spPr>
          <a:xfrm>
            <a:off x="4667322" y="3724300"/>
            <a:ext cx="214188" cy="214188"/>
          </a:xfrm>
          <a:prstGeom prst="ellipse">
            <a:avLst/>
          </a:prstGeom>
          <a:solidFill>
            <a:srgbClr val="FF993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4431D4-4468-3C6D-4594-44C847E46114}"/>
              </a:ext>
            </a:extLst>
          </p:cNvPr>
          <p:cNvSpPr txBox="1"/>
          <p:nvPr/>
        </p:nvSpPr>
        <p:spPr>
          <a:xfrm>
            <a:off x="8878957" y="5837583"/>
            <a:ext cx="246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*Mock-up, not real data</a:t>
            </a:r>
          </a:p>
        </p:txBody>
      </p:sp>
    </p:spTree>
    <p:extLst>
      <p:ext uri="{BB962C8B-B14F-4D97-AF65-F5344CB8AC3E}">
        <p14:creationId xmlns:p14="http://schemas.microsoft.com/office/powerpoint/2010/main" val="2323876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07D1-A4ED-414B-C01B-1EA01268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955E-D3E3-E385-D0A0-F337944F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6D4EE-4A80-67EC-8ED7-64D928DE5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23A9-096A-0923-4186-6DBC77294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7C231-83FB-BDB6-1D09-924079CB6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20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488D54-0ED4-EF3E-04F1-8768F16669F4}"/>
              </a:ext>
            </a:extLst>
          </p:cNvPr>
          <p:cNvGrpSpPr/>
          <p:nvPr/>
        </p:nvGrpSpPr>
        <p:grpSpPr>
          <a:xfrm>
            <a:off x="3048000" y="2014924"/>
            <a:ext cx="6095999" cy="3796263"/>
            <a:chOff x="1283079" y="1747364"/>
            <a:chExt cx="6095999" cy="37962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8C1C292-36EF-D8F8-25F0-0D1F1DC854EC}"/>
                </a:ext>
              </a:extLst>
            </p:cNvPr>
            <p:cNvSpPr/>
            <p:nvPr/>
          </p:nvSpPr>
          <p:spPr>
            <a:xfrm>
              <a:off x="1283079" y="2002561"/>
              <a:ext cx="6095999" cy="354106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1B407D4-85A3-E589-0703-278D8505F239}"/>
                </a:ext>
              </a:extLst>
            </p:cNvPr>
            <p:cNvSpPr/>
            <p:nvPr/>
          </p:nvSpPr>
          <p:spPr>
            <a:xfrm>
              <a:off x="1879426" y="3837524"/>
              <a:ext cx="2537791" cy="13514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Block Bootstrap Generator (Kirsch)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8BA39D41-FC68-C141-FF5B-3FF134586285}"/>
                    </a:ext>
                  </a:extLst>
                </p:cNvPr>
                <p:cNvSpPr/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8BA39D41-FC68-C141-FF5B-3FF1345862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E5E3B9C-82FC-157B-1D69-B50DF1A60D76}"/>
                </a:ext>
              </a:extLst>
            </p:cNvPr>
            <p:cNvSpPr/>
            <p:nvPr/>
          </p:nvSpPr>
          <p:spPr>
            <a:xfrm>
              <a:off x="2267933" y="2597679"/>
              <a:ext cx="1770667" cy="820486"/>
            </a:xfrm>
            <a:prstGeom prst="roundRect">
              <a:avLst/>
            </a:prstGeom>
            <a:solidFill>
              <a:srgbClr val="C9A6E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Borg MOEA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87A6E40-2A94-0F0A-D290-F2BF0E2A874F}"/>
                </a:ext>
              </a:extLst>
            </p:cNvPr>
            <p:cNvCxnSpPr>
              <a:stCxn id="28" idx="2"/>
              <a:endCxn id="26" idx="0"/>
            </p:cNvCxnSpPr>
            <p:nvPr/>
          </p:nvCxnSpPr>
          <p:spPr>
            <a:xfrm flipH="1">
              <a:off x="3148321" y="3418165"/>
              <a:ext cx="4946" cy="59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BA7AF0A-B15D-2116-9743-FCC8A70DA279}"/>
                    </a:ext>
                  </a:extLst>
                </p:cNvPr>
                <p:cNvSpPr/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BA7AF0A-B15D-2116-9743-FCC8A70DA2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blipFill>
                  <a:blip r:embed="rId3"/>
                  <a:stretch>
                    <a:fillRect l="-17647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7B11571-0014-0CDB-D518-F889E644E543}"/>
                    </a:ext>
                  </a:extLst>
                </p:cNvPr>
                <p:cNvSpPr/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7B11571-0014-0CDB-D518-F889E644E5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blipFill>
                  <a:blip r:embed="rId4"/>
                  <a:stretch>
                    <a:fillRect l="-11594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1F57082-3AC1-B791-00B9-6923FA9D2364}"/>
                </a:ext>
              </a:extLst>
            </p:cNvPr>
            <p:cNvCxnSpPr>
              <a:stCxn id="26" idx="6"/>
              <a:endCxn id="32" idx="2"/>
            </p:cNvCxnSpPr>
            <p:nvPr/>
          </p:nvCxnSpPr>
          <p:spPr>
            <a:xfrm>
              <a:off x="3351918" y="4222819"/>
              <a:ext cx="274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A81FB54-34CD-DD81-DF54-CFEBF79DF396}"/>
                    </a:ext>
                  </a:extLst>
                </p:cNvPr>
                <p:cNvSpPr txBox="1"/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A81FB54-34CD-DD81-DF54-CFEBF79DF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A801E5D-849F-90B9-F74F-D4A4AE399973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4417217" y="4513247"/>
              <a:ext cx="93666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7B6BFEA-65C7-51FE-75F2-680FBE36590A}"/>
                </a:ext>
              </a:extLst>
            </p:cNvPr>
            <p:cNvGrpSpPr/>
            <p:nvPr/>
          </p:nvGrpSpPr>
          <p:grpSpPr>
            <a:xfrm>
              <a:off x="5353878" y="4122014"/>
              <a:ext cx="838200" cy="825243"/>
              <a:chOff x="4820789" y="3179067"/>
              <a:chExt cx="838200" cy="82524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7A539C2-BDA2-5269-8F50-4FCED7212996}"/>
                  </a:ext>
                </a:extLst>
              </p:cNvPr>
              <p:cNvSpPr/>
              <p:nvPr/>
            </p:nvSpPr>
            <p:spPr>
              <a:xfrm>
                <a:off x="4820789" y="3179067"/>
                <a:ext cx="838200" cy="8252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AC29A40-E36B-CC5B-48C4-6ADFC4533453}"/>
                  </a:ext>
                </a:extLst>
              </p:cNvPr>
              <p:cNvCxnSpPr/>
              <p:nvPr/>
            </p:nvCxnSpPr>
            <p:spPr>
              <a:xfrm>
                <a:off x="4884289" y="3853575"/>
                <a:ext cx="711200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198430A-9ED6-2512-A434-E47BE3496E45}"/>
                    </a:ext>
                  </a:extLst>
                </p:cNvPr>
                <p:cNvSpPr txBox="1"/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198430A-9ED6-2512-A434-E47BE3496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blipFill>
                  <a:blip r:embed="rId6"/>
                  <a:stretch>
                    <a:fillRect l="-41509" r="-5660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5E6A2B1E-7D51-6D0A-311C-47DC3A5014A9}"/>
                    </a:ext>
                  </a:extLst>
                </p:cNvPr>
                <p:cNvSpPr/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5E6A2B1E-7D51-6D0A-311C-47DC3A5014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B8F78F5-77C8-B997-BE59-C76FEE0AD39D}"/>
                </a:ext>
              </a:extLst>
            </p:cNvPr>
            <p:cNvCxnSpPr>
              <a:cxnSpLocks/>
              <a:stCxn id="49" idx="0"/>
              <a:endCxn id="42" idx="4"/>
            </p:cNvCxnSpPr>
            <p:nvPr/>
          </p:nvCxnSpPr>
          <p:spPr>
            <a:xfrm flipV="1">
              <a:off x="5772978" y="3251154"/>
              <a:ext cx="0" cy="8708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5D5528D-054D-93A3-4BB3-7F2858B2F836}"/>
                </a:ext>
              </a:extLst>
            </p:cNvPr>
            <p:cNvCxnSpPr>
              <a:cxnSpLocks/>
              <a:stCxn id="42" idx="2"/>
              <a:endCxn id="28" idx="3"/>
            </p:cNvCxnSpPr>
            <p:nvPr/>
          </p:nvCxnSpPr>
          <p:spPr>
            <a:xfrm flipH="1">
              <a:off x="4038600" y="3007922"/>
              <a:ext cx="149114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78F94FE-9CBE-4F22-13AD-8E4738EF7F72}"/>
                </a:ext>
              </a:extLst>
            </p:cNvPr>
            <p:cNvCxnSpPr>
              <a:cxnSpLocks/>
              <a:stCxn id="90" idx="2"/>
              <a:endCxn id="42" idx="0"/>
            </p:cNvCxnSpPr>
            <p:nvPr/>
          </p:nvCxnSpPr>
          <p:spPr>
            <a:xfrm>
              <a:off x="5772978" y="1747364"/>
              <a:ext cx="0" cy="101732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42BF5C2D-80E1-2C7C-0619-AFCCA1CCED45}"/>
              </a:ext>
            </a:extLst>
          </p:cNvPr>
          <p:cNvSpPr/>
          <p:nvPr/>
        </p:nvSpPr>
        <p:spPr>
          <a:xfrm>
            <a:off x="3048000" y="1264451"/>
            <a:ext cx="838200" cy="825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363DEAF-3CE1-325F-6E8E-4C1770F1B6B1}"/>
                  </a:ext>
                </a:extLst>
              </p:cNvPr>
              <p:cNvSpPr txBox="1"/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363DEAF-3CE1-325F-6E8E-4C1770F1B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blipFill>
                <a:blip r:embed="rId8"/>
                <a:stretch>
                  <a:fillRect l="-37736" r="-754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2ECBD5CE-7882-3B16-59B8-5691D1314387}"/>
              </a:ext>
            </a:extLst>
          </p:cNvPr>
          <p:cNvCxnSpPr>
            <a:cxnSpLocks/>
            <a:stCxn id="79" idx="2"/>
            <a:endCxn id="31" idx="2"/>
          </p:cNvCxnSpPr>
          <p:nvPr/>
        </p:nvCxnSpPr>
        <p:spPr>
          <a:xfrm rot="16200000" flipH="1">
            <a:off x="2549900" y="3006893"/>
            <a:ext cx="2400685" cy="5662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AF887AA-95C4-7EC4-1FF8-E099DA4A6307}"/>
              </a:ext>
            </a:extLst>
          </p:cNvPr>
          <p:cNvCxnSpPr>
            <a:cxnSpLocks/>
            <a:stCxn id="79" idx="3"/>
            <a:endCxn id="90" idx="1"/>
          </p:cNvCxnSpPr>
          <p:nvPr/>
        </p:nvCxnSpPr>
        <p:spPr>
          <a:xfrm flipV="1">
            <a:off x="3886200" y="1674160"/>
            <a:ext cx="2404933" cy="29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B4FBC0F2-1685-20E0-15A2-E989F73A7638}"/>
              </a:ext>
            </a:extLst>
          </p:cNvPr>
          <p:cNvSpPr/>
          <p:nvPr/>
        </p:nvSpPr>
        <p:spPr>
          <a:xfrm>
            <a:off x="6291133" y="1333396"/>
            <a:ext cx="2493531" cy="681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reference (Mean) Drought Stats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608CE54-BE45-FFB3-AB9D-E8DC26A0DA86}"/>
              </a:ext>
            </a:extLst>
          </p:cNvPr>
          <p:cNvSpPr/>
          <p:nvPr/>
        </p:nvSpPr>
        <p:spPr>
          <a:xfrm>
            <a:off x="6568597" y="3802324"/>
            <a:ext cx="1973227" cy="317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Drought Stats</a:t>
            </a:r>
          </a:p>
        </p:txBody>
      </p:sp>
    </p:spTree>
    <p:extLst>
      <p:ext uri="{BB962C8B-B14F-4D97-AF65-F5344CB8AC3E}">
        <p14:creationId xmlns:p14="http://schemas.microsoft.com/office/powerpoint/2010/main" val="2961627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62E2D-A9C3-C3A2-F209-ADC077301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C6BD-AC11-549D-26EA-389EE4D15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55318-BFCB-B501-455C-C38831E1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FDD15-6EF7-BF4D-CC03-0B693263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1D71B-7E0C-FDF7-1035-F8000328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21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E7053-BF8A-BAB1-4813-F8E21E3DDE63}"/>
              </a:ext>
            </a:extLst>
          </p:cNvPr>
          <p:cNvGrpSpPr/>
          <p:nvPr/>
        </p:nvGrpSpPr>
        <p:grpSpPr>
          <a:xfrm>
            <a:off x="3048000" y="2014924"/>
            <a:ext cx="6095999" cy="3796263"/>
            <a:chOff x="1283079" y="1747364"/>
            <a:chExt cx="6095999" cy="37962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09C6EC9-DA35-A2D6-2129-80646AAC7ACC}"/>
                </a:ext>
              </a:extLst>
            </p:cNvPr>
            <p:cNvSpPr/>
            <p:nvPr/>
          </p:nvSpPr>
          <p:spPr>
            <a:xfrm>
              <a:off x="1283079" y="2002561"/>
              <a:ext cx="6095999" cy="354106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1D9D2B2-F1ED-BD6B-5302-33A5DCE86156}"/>
                </a:ext>
              </a:extLst>
            </p:cNvPr>
            <p:cNvSpPr/>
            <p:nvPr/>
          </p:nvSpPr>
          <p:spPr>
            <a:xfrm>
              <a:off x="1879426" y="3837524"/>
              <a:ext cx="2537791" cy="13514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Block Bootstrap Generator (Kirsch)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1F1E29C-3822-F249-A1CD-415E71B9FEA0}"/>
                    </a:ext>
                  </a:extLst>
                </p:cNvPr>
                <p:cNvSpPr/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1F1E29C-3822-F249-A1CD-415E71B9FE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D80BAC0-C18A-52A3-AF6C-AA58B157AD45}"/>
                </a:ext>
              </a:extLst>
            </p:cNvPr>
            <p:cNvSpPr/>
            <p:nvPr/>
          </p:nvSpPr>
          <p:spPr>
            <a:xfrm>
              <a:off x="2267933" y="2597679"/>
              <a:ext cx="1770667" cy="820486"/>
            </a:xfrm>
            <a:prstGeom prst="roundRect">
              <a:avLst/>
            </a:prstGeom>
            <a:solidFill>
              <a:srgbClr val="C9A6E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Borg MOEA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42B5B0B-B6FD-6553-FB81-F08FC6913FAF}"/>
                </a:ext>
              </a:extLst>
            </p:cNvPr>
            <p:cNvCxnSpPr>
              <a:stCxn id="28" idx="2"/>
              <a:endCxn id="26" idx="0"/>
            </p:cNvCxnSpPr>
            <p:nvPr/>
          </p:nvCxnSpPr>
          <p:spPr>
            <a:xfrm flipH="1">
              <a:off x="3148321" y="3418165"/>
              <a:ext cx="4946" cy="59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047CD3AC-4D73-0E2D-97E9-CFE87D3C4FC8}"/>
                    </a:ext>
                  </a:extLst>
                </p:cNvPr>
                <p:cNvSpPr/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047CD3AC-4D73-0E2D-97E9-CFE87D3C4F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blipFill>
                  <a:blip r:embed="rId3"/>
                  <a:stretch>
                    <a:fillRect l="-17647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22937E1-C723-E697-FEDF-D09E6243ED6A}"/>
                    </a:ext>
                  </a:extLst>
                </p:cNvPr>
                <p:cNvSpPr/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22937E1-C723-E697-FEDF-D09E6243ED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blipFill>
                  <a:blip r:embed="rId4"/>
                  <a:stretch>
                    <a:fillRect l="-11594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01AB53A-9AED-3C66-6B11-5C5350404919}"/>
                </a:ext>
              </a:extLst>
            </p:cNvPr>
            <p:cNvCxnSpPr>
              <a:stCxn id="26" idx="6"/>
              <a:endCxn id="32" idx="2"/>
            </p:cNvCxnSpPr>
            <p:nvPr/>
          </p:nvCxnSpPr>
          <p:spPr>
            <a:xfrm>
              <a:off x="3351918" y="4222819"/>
              <a:ext cx="274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4A0CA1B-6E78-459F-81AE-5C3FF97AFD6A}"/>
                    </a:ext>
                  </a:extLst>
                </p:cNvPr>
                <p:cNvSpPr txBox="1"/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4A0CA1B-6E78-459F-81AE-5C3FF97AF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71FBECD-E36E-49CC-B12B-6612118A680B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4417217" y="4513247"/>
              <a:ext cx="93666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EB699BC-5631-A5B4-3A5C-56CD2E95B117}"/>
                </a:ext>
              </a:extLst>
            </p:cNvPr>
            <p:cNvGrpSpPr/>
            <p:nvPr/>
          </p:nvGrpSpPr>
          <p:grpSpPr>
            <a:xfrm>
              <a:off x="5353878" y="4122014"/>
              <a:ext cx="838200" cy="825243"/>
              <a:chOff x="4820789" y="3179067"/>
              <a:chExt cx="838200" cy="82524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A3E828B-311F-E564-2006-3424153DF17F}"/>
                  </a:ext>
                </a:extLst>
              </p:cNvPr>
              <p:cNvSpPr/>
              <p:nvPr/>
            </p:nvSpPr>
            <p:spPr>
              <a:xfrm>
                <a:off x="4820789" y="3179067"/>
                <a:ext cx="838200" cy="8252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1840D31-F7C6-E551-4C1B-69DD4EE95106}"/>
                  </a:ext>
                </a:extLst>
              </p:cNvPr>
              <p:cNvCxnSpPr/>
              <p:nvPr/>
            </p:nvCxnSpPr>
            <p:spPr>
              <a:xfrm>
                <a:off x="4884289" y="3853575"/>
                <a:ext cx="711200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F07A416-1C2C-C8B5-DB1C-DE4498F4F6DA}"/>
                    </a:ext>
                  </a:extLst>
                </p:cNvPr>
                <p:cNvSpPr txBox="1"/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F07A416-1C2C-C8B5-DB1C-DE4498F4F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blipFill>
                  <a:blip r:embed="rId6"/>
                  <a:stretch>
                    <a:fillRect l="-41509" r="-5660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BBF71FEB-F552-7353-04A2-1D38E5442DC9}"/>
                    </a:ext>
                  </a:extLst>
                </p:cNvPr>
                <p:cNvSpPr/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BBF71FEB-F552-7353-04A2-1D38E5442D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3F74444-3B83-79C5-51E1-C2AC8BD700EE}"/>
                </a:ext>
              </a:extLst>
            </p:cNvPr>
            <p:cNvCxnSpPr>
              <a:cxnSpLocks/>
              <a:stCxn id="49" idx="0"/>
              <a:endCxn id="42" idx="4"/>
            </p:cNvCxnSpPr>
            <p:nvPr/>
          </p:nvCxnSpPr>
          <p:spPr>
            <a:xfrm flipV="1">
              <a:off x="5772978" y="3251154"/>
              <a:ext cx="0" cy="8708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61BE973-BABE-8FAD-B643-DFB1CE4CF9FF}"/>
                </a:ext>
              </a:extLst>
            </p:cNvPr>
            <p:cNvCxnSpPr>
              <a:cxnSpLocks/>
              <a:stCxn id="42" idx="2"/>
              <a:endCxn id="28" idx="3"/>
            </p:cNvCxnSpPr>
            <p:nvPr/>
          </p:nvCxnSpPr>
          <p:spPr>
            <a:xfrm flipH="1">
              <a:off x="4038600" y="3007922"/>
              <a:ext cx="149114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70F210D-62E8-591E-9090-350AA3FF4BA0}"/>
                </a:ext>
              </a:extLst>
            </p:cNvPr>
            <p:cNvCxnSpPr>
              <a:cxnSpLocks/>
              <a:stCxn id="90" idx="2"/>
              <a:endCxn id="42" idx="0"/>
            </p:cNvCxnSpPr>
            <p:nvPr/>
          </p:nvCxnSpPr>
          <p:spPr>
            <a:xfrm>
              <a:off x="5772978" y="1747364"/>
              <a:ext cx="0" cy="101732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FAEC2963-BA7E-D743-9DDC-FBD619D84B8F}"/>
              </a:ext>
            </a:extLst>
          </p:cNvPr>
          <p:cNvSpPr/>
          <p:nvPr/>
        </p:nvSpPr>
        <p:spPr>
          <a:xfrm>
            <a:off x="3048000" y="1264451"/>
            <a:ext cx="838200" cy="825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9D5420A-AE44-13F6-F00A-C99BD1E6B1D4}"/>
                  </a:ext>
                </a:extLst>
              </p:cNvPr>
              <p:cNvSpPr txBox="1"/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9D5420A-AE44-13F6-F00A-C99BD1E6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blipFill>
                <a:blip r:embed="rId8"/>
                <a:stretch>
                  <a:fillRect l="-37736" r="-754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7568DB10-CAC4-C3CC-3DE9-EEC79D608135}"/>
              </a:ext>
            </a:extLst>
          </p:cNvPr>
          <p:cNvCxnSpPr>
            <a:cxnSpLocks/>
            <a:stCxn id="79" idx="2"/>
            <a:endCxn id="31" idx="2"/>
          </p:cNvCxnSpPr>
          <p:nvPr/>
        </p:nvCxnSpPr>
        <p:spPr>
          <a:xfrm rot="16200000" flipH="1">
            <a:off x="2549900" y="3006893"/>
            <a:ext cx="2400685" cy="5662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0895FBE-090D-F06E-4ADD-386796144285}"/>
              </a:ext>
            </a:extLst>
          </p:cNvPr>
          <p:cNvCxnSpPr>
            <a:cxnSpLocks/>
            <a:stCxn id="79" idx="3"/>
            <a:endCxn id="90" idx="1"/>
          </p:cNvCxnSpPr>
          <p:nvPr/>
        </p:nvCxnSpPr>
        <p:spPr>
          <a:xfrm flipV="1">
            <a:off x="3886200" y="1674160"/>
            <a:ext cx="2404933" cy="29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9B4F522C-67AB-DA38-C95E-7D224FED9C96}"/>
              </a:ext>
            </a:extLst>
          </p:cNvPr>
          <p:cNvSpPr/>
          <p:nvPr/>
        </p:nvSpPr>
        <p:spPr>
          <a:xfrm>
            <a:off x="6291133" y="1333396"/>
            <a:ext cx="2493531" cy="681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reference (Mean) Drought Stats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C769C09-E5FC-A964-24A3-95422E8AC24E}"/>
              </a:ext>
            </a:extLst>
          </p:cNvPr>
          <p:cNvSpPr/>
          <p:nvPr/>
        </p:nvSpPr>
        <p:spPr>
          <a:xfrm>
            <a:off x="6568597" y="3802324"/>
            <a:ext cx="1973227" cy="317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Drought Stats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9FB1447-4012-F1B7-D783-736818E7C34E}"/>
                  </a:ext>
                </a:extLst>
              </p:cNvPr>
              <p:cNvSpPr/>
              <p:nvPr/>
            </p:nvSpPr>
            <p:spPr>
              <a:xfrm>
                <a:off x="9746281" y="1219177"/>
                <a:ext cx="1994715" cy="113061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𝐷𝑢𝑟</m:t>
                          </m:r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𝐼𝑛𝑡</m:t>
                          </m:r>
                          <m:r>
                            <a:rPr lang="en-US" sz="1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dirty="0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sz="1800" i="1" dirty="0" err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 i="1" dirty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– </m:t>
                                  </m:r>
                                  <m:sSubSup>
                                    <m:sSubSupPr>
                                      <m:ctrlPr>
                                        <a:rPr lang="en-US" sz="1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b="1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e>
                                    <m:sub>
                                      <m:r>
                                        <a:rPr lang="en-US" sz="1800" b="1" i="1" dirty="0" err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1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9FB1447-4012-F1B7-D783-736818E7C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281" y="1219177"/>
                <a:ext cx="1994715" cy="11306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390C564-F4FC-6015-61CB-BCCEB0950FED}"/>
              </a:ext>
            </a:extLst>
          </p:cNvPr>
          <p:cNvCxnSpPr>
            <a:cxnSpLocks/>
            <a:stCxn id="42" idx="7"/>
            <a:endCxn id="101" idx="1"/>
          </p:cNvCxnSpPr>
          <p:nvPr/>
        </p:nvCxnSpPr>
        <p:spPr>
          <a:xfrm flipV="1">
            <a:off x="7709890" y="1784485"/>
            <a:ext cx="2036391" cy="13190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666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FBBA0-6FB9-8E92-58DC-B63E58830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3AFD5-4000-D04E-F184-9290BF073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3461B-29F8-27F7-924C-0E4B184A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DD693-C356-0AC6-F8C8-DB0977DC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C8A87-5242-5F2C-B44E-EB2251FD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22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599574-8074-B3C1-5316-5871F095CBBA}"/>
              </a:ext>
            </a:extLst>
          </p:cNvPr>
          <p:cNvGrpSpPr/>
          <p:nvPr/>
        </p:nvGrpSpPr>
        <p:grpSpPr>
          <a:xfrm>
            <a:off x="3048000" y="2014924"/>
            <a:ext cx="6095999" cy="3796263"/>
            <a:chOff x="1283079" y="1747364"/>
            <a:chExt cx="6095999" cy="37962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1783730-2173-4F32-7993-9C52CB833069}"/>
                </a:ext>
              </a:extLst>
            </p:cNvPr>
            <p:cNvSpPr/>
            <p:nvPr/>
          </p:nvSpPr>
          <p:spPr>
            <a:xfrm>
              <a:off x="1283079" y="2002561"/>
              <a:ext cx="6095999" cy="354106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AC28F42-7FF7-C30B-2373-116A458677EB}"/>
                </a:ext>
              </a:extLst>
            </p:cNvPr>
            <p:cNvSpPr/>
            <p:nvPr/>
          </p:nvSpPr>
          <p:spPr>
            <a:xfrm>
              <a:off x="1879426" y="3837524"/>
              <a:ext cx="2537791" cy="13514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Block Bootstrap Generator (Kirsch)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918BCD2F-414A-BB69-8A28-FB711001AF3F}"/>
                    </a:ext>
                  </a:extLst>
                </p:cNvPr>
                <p:cNvSpPr/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918BCD2F-414A-BB69-8A28-FB711001AF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246FE6B-0DB8-93AC-746D-9A8DD63CA6E3}"/>
                </a:ext>
              </a:extLst>
            </p:cNvPr>
            <p:cNvSpPr/>
            <p:nvPr/>
          </p:nvSpPr>
          <p:spPr>
            <a:xfrm>
              <a:off x="2267933" y="2597679"/>
              <a:ext cx="1770667" cy="820486"/>
            </a:xfrm>
            <a:prstGeom prst="roundRect">
              <a:avLst/>
            </a:prstGeom>
            <a:solidFill>
              <a:srgbClr val="C9A6E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Borg MOEA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EF4A39C-83AD-CF21-6AB6-EDFD55C9D46C}"/>
                </a:ext>
              </a:extLst>
            </p:cNvPr>
            <p:cNvCxnSpPr>
              <a:stCxn id="28" idx="2"/>
              <a:endCxn id="26" idx="0"/>
            </p:cNvCxnSpPr>
            <p:nvPr/>
          </p:nvCxnSpPr>
          <p:spPr>
            <a:xfrm flipH="1">
              <a:off x="3148321" y="3418165"/>
              <a:ext cx="4946" cy="59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B3BE818-3316-E51A-C82E-2A3D4085DDBC}"/>
                    </a:ext>
                  </a:extLst>
                </p:cNvPr>
                <p:cNvSpPr/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B3BE818-3316-E51A-C82E-2A3D4085DD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blipFill>
                  <a:blip r:embed="rId3"/>
                  <a:stretch>
                    <a:fillRect l="-17647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C0C776-561B-F4A0-F191-CAF3A055A29D}"/>
                    </a:ext>
                  </a:extLst>
                </p:cNvPr>
                <p:cNvSpPr/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4BC0C776-561B-F4A0-F191-CAF3A055A2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blipFill>
                  <a:blip r:embed="rId4"/>
                  <a:stretch>
                    <a:fillRect l="-11594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3E39035-ACCE-2DBC-34E7-5908A018A798}"/>
                </a:ext>
              </a:extLst>
            </p:cNvPr>
            <p:cNvCxnSpPr>
              <a:stCxn id="26" idx="6"/>
              <a:endCxn id="32" idx="2"/>
            </p:cNvCxnSpPr>
            <p:nvPr/>
          </p:nvCxnSpPr>
          <p:spPr>
            <a:xfrm>
              <a:off x="3351918" y="4222819"/>
              <a:ext cx="274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603EE5D-E5FE-B8F1-2161-A9D6DD25F61A}"/>
                    </a:ext>
                  </a:extLst>
                </p:cNvPr>
                <p:cNvSpPr txBox="1"/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603EE5D-E5FE-B8F1-2161-A9D6DD25F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4FF05BD-1782-598D-B7FC-8290E2B744B9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4417217" y="4513247"/>
              <a:ext cx="93666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C687796-F2BB-31D3-EE4D-B6A4CE26C2B3}"/>
                </a:ext>
              </a:extLst>
            </p:cNvPr>
            <p:cNvGrpSpPr/>
            <p:nvPr/>
          </p:nvGrpSpPr>
          <p:grpSpPr>
            <a:xfrm>
              <a:off x="5353878" y="4122014"/>
              <a:ext cx="838200" cy="825243"/>
              <a:chOff x="4820789" y="3179067"/>
              <a:chExt cx="838200" cy="82524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8B11E7E-38D3-8C23-DAAA-466252A38287}"/>
                  </a:ext>
                </a:extLst>
              </p:cNvPr>
              <p:cNvSpPr/>
              <p:nvPr/>
            </p:nvSpPr>
            <p:spPr>
              <a:xfrm>
                <a:off x="4820789" y="3179067"/>
                <a:ext cx="838200" cy="8252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64AEF7C-F1F4-4DB6-5C13-CB0ACF06B4E8}"/>
                  </a:ext>
                </a:extLst>
              </p:cNvPr>
              <p:cNvCxnSpPr/>
              <p:nvPr/>
            </p:nvCxnSpPr>
            <p:spPr>
              <a:xfrm>
                <a:off x="4884289" y="3853575"/>
                <a:ext cx="711200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D1C63F5-C9EA-302A-B6CB-94221C16AF7D}"/>
                    </a:ext>
                  </a:extLst>
                </p:cNvPr>
                <p:cNvSpPr txBox="1"/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D1C63F5-C9EA-302A-B6CB-94221C16A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blipFill>
                  <a:blip r:embed="rId6"/>
                  <a:stretch>
                    <a:fillRect l="-41509" r="-5660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8BA1496-BD8D-89AB-9813-7DB337FC75D5}"/>
                    </a:ext>
                  </a:extLst>
                </p:cNvPr>
                <p:cNvSpPr/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18BA1496-BD8D-89AB-9813-7DB337FC75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5FBD3FA-AAC6-1F0E-020A-0CAC405EC351}"/>
                </a:ext>
              </a:extLst>
            </p:cNvPr>
            <p:cNvCxnSpPr>
              <a:cxnSpLocks/>
              <a:stCxn id="49" idx="0"/>
              <a:endCxn id="42" idx="4"/>
            </p:cNvCxnSpPr>
            <p:nvPr/>
          </p:nvCxnSpPr>
          <p:spPr>
            <a:xfrm flipV="1">
              <a:off x="5772978" y="3251154"/>
              <a:ext cx="0" cy="8708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57A21FA-F60B-CFE9-D1FB-30BA7E209120}"/>
                </a:ext>
              </a:extLst>
            </p:cNvPr>
            <p:cNvCxnSpPr>
              <a:cxnSpLocks/>
              <a:stCxn id="42" idx="2"/>
              <a:endCxn id="28" idx="3"/>
            </p:cNvCxnSpPr>
            <p:nvPr/>
          </p:nvCxnSpPr>
          <p:spPr>
            <a:xfrm flipH="1">
              <a:off x="4038600" y="3007922"/>
              <a:ext cx="149114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B185EA21-FB62-C8F3-6DF5-CC7B75341E2E}"/>
                </a:ext>
              </a:extLst>
            </p:cNvPr>
            <p:cNvCxnSpPr>
              <a:cxnSpLocks/>
              <a:stCxn id="90" idx="2"/>
              <a:endCxn id="42" idx="0"/>
            </p:cNvCxnSpPr>
            <p:nvPr/>
          </p:nvCxnSpPr>
          <p:spPr>
            <a:xfrm>
              <a:off x="5772978" y="1747364"/>
              <a:ext cx="0" cy="101732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BCB25A4F-9DBC-8993-D5B0-24985813430E}"/>
              </a:ext>
            </a:extLst>
          </p:cNvPr>
          <p:cNvSpPr/>
          <p:nvPr/>
        </p:nvSpPr>
        <p:spPr>
          <a:xfrm>
            <a:off x="3048000" y="1264451"/>
            <a:ext cx="838200" cy="825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161EBBD-B90A-7126-7A0C-020492489E20}"/>
                  </a:ext>
                </a:extLst>
              </p:cNvPr>
              <p:cNvSpPr txBox="1"/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161EBBD-B90A-7126-7A0C-020492489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blipFill>
                <a:blip r:embed="rId8"/>
                <a:stretch>
                  <a:fillRect l="-37736" r="-754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1475E33F-467D-D886-A817-32D6E7C4C82F}"/>
              </a:ext>
            </a:extLst>
          </p:cNvPr>
          <p:cNvCxnSpPr>
            <a:cxnSpLocks/>
            <a:stCxn id="79" idx="2"/>
            <a:endCxn id="31" idx="2"/>
          </p:cNvCxnSpPr>
          <p:nvPr/>
        </p:nvCxnSpPr>
        <p:spPr>
          <a:xfrm rot="16200000" flipH="1">
            <a:off x="2549900" y="3006893"/>
            <a:ext cx="2400685" cy="5662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3451D06-E95A-9EA0-4452-698EFAD74852}"/>
              </a:ext>
            </a:extLst>
          </p:cNvPr>
          <p:cNvCxnSpPr>
            <a:cxnSpLocks/>
            <a:stCxn id="79" idx="3"/>
            <a:endCxn id="90" idx="1"/>
          </p:cNvCxnSpPr>
          <p:nvPr/>
        </p:nvCxnSpPr>
        <p:spPr>
          <a:xfrm flipV="1">
            <a:off x="3886200" y="1674160"/>
            <a:ext cx="2404933" cy="29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BA292D4-4418-3AAA-1D89-11403B5FFCD2}"/>
              </a:ext>
            </a:extLst>
          </p:cNvPr>
          <p:cNvSpPr/>
          <p:nvPr/>
        </p:nvSpPr>
        <p:spPr>
          <a:xfrm>
            <a:off x="6291133" y="1333396"/>
            <a:ext cx="2493531" cy="681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reference (Mean) Drought Stats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28DCE83-2856-25BA-C532-0AFC17C5814E}"/>
                  </a:ext>
                </a:extLst>
              </p:cNvPr>
              <p:cNvSpPr/>
              <p:nvPr/>
            </p:nvSpPr>
            <p:spPr>
              <a:xfrm>
                <a:off x="9515509" y="1219177"/>
                <a:ext cx="2424700" cy="378611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𝑜𝑛𝑠𝑡𝑟𝑎𝑖𝑛𝑡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>
                    <a:solidFill>
                      <a:schemeClr val="accent1"/>
                    </a:solidFill>
                  </a:rPr>
                  <a:t>Used to enforce plausibility of timeseries?</a:t>
                </a:r>
              </a:p>
              <a:p>
                <a:endParaRPr lang="en-US" sz="24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>
                    <a:solidFill>
                      <a:schemeClr val="accent1"/>
                    </a:solidFill>
                  </a:rPr>
                  <a:t>Based on autocorrelation, non-drought distribution.</a:t>
                </a:r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28DCE83-2856-25BA-C532-0AFC17C58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509" y="1219177"/>
                <a:ext cx="2424700" cy="3786112"/>
              </a:xfrm>
              <a:prstGeom prst="rect">
                <a:avLst/>
              </a:prstGeom>
              <a:blipFill>
                <a:blip r:embed="rId9"/>
                <a:stretch>
                  <a:fillRect l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822059A-157B-17FE-A081-865BC358DBFE}"/>
              </a:ext>
            </a:extLst>
          </p:cNvPr>
          <p:cNvCxnSpPr>
            <a:cxnSpLocks/>
            <a:stCxn id="46" idx="6"/>
            <a:endCxn id="101" idx="1"/>
          </p:cNvCxnSpPr>
          <p:nvPr/>
        </p:nvCxnSpPr>
        <p:spPr>
          <a:xfrm flipV="1">
            <a:off x="8506549" y="3112233"/>
            <a:ext cx="1008960" cy="1630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BD98234-A23A-2305-0C49-9CF73A60D5BA}"/>
                  </a:ext>
                </a:extLst>
              </p:cNvPr>
              <p:cNvSpPr/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BD98234-A23A-2305-0C49-9CF73A60D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2561081-0A44-DBB3-7F57-7B88AE673EF2}"/>
              </a:ext>
            </a:extLst>
          </p:cNvPr>
          <p:cNvCxnSpPr>
            <a:cxnSpLocks/>
            <a:endCxn id="46" idx="4"/>
          </p:cNvCxnSpPr>
          <p:nvPr/>
        </p:nvCxnSpPr>
        <p:spPr>
          <a:xfrm flipV="1">
            <a:off x="7537899" y="3518512"/>
            <a:ext cx="725418" cy="871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2697E7-6AD1-37A1-BEB2-914A0B603F62}"/>
              </a:ext>
            </a:extLst>
          </p:cNvPr>
          <p:cNvCxnSpPr>
            <a:stCxn id="46" idx="2"/>
            <a:endCxn id="42" idx="6"/>
          </p:cNvCxnSpPr>
          <p:nvPr/>
        </p:nvCxnSpPr>
        <p:spPr>
          <a:xfrm flipH="1">
            <a:off x="7781131" y="3275280"/>
            <a:ext cx="238954" cy="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29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D659-1EFA-2D03-652A-311408BB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B94B-CCE9-C4D9-4B5D-B5937E8C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6367-ADBF-5F08-B3D9-D8F83FF3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0F892-9473-A95F-511E-91BA9EE75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B11BD-731D-4FE7-01AD-6253F15D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5E2C383-4250-59D0-DB52-7682A94473C5}"/>
              </a:ext>
            </a:extLst>
          </p:cNvPr>
          <p:cNvGrpSpPr/>
          <p:nvPr/>
        </p:nvGrpSpPr>
        <p:grpSpPr>
          <a:xfrm>
            <a:off x="3048000" y="2014924"/>
            <a:ext cx="6095999" cy="3796263"/>
            <a:chOff x="1283079" y="1747364"/>
            <a:chExt cx="6095999" cy="37962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1412A58-87D4-CB45-D7DB-B782C9ABA378}"/>
                </a:ext>
              </a:extLst>
            </p:cNvPr>
            <p:cNvSpPr/>
            <p:nvPr/>
          </p:nvSpPr>
          <p:spPr>
            <a:xfrm>
              <a:off x="1283079" y="2002561"/>
              <a:ext cx="6095999" cy="354106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627D9B7-44F1-6DAF-0605-418CAE62BAEF}"/>
                </a:ext>
              </a:extLst>
            </p:cNvPr>
            <p:cNvSpPr/>
            <p:nvPr/>
          </p:nvSpPr>
          <p:spPr>
            <a:xfrm>
              <a:off x="1879426" y="3837524"/>
              <a:ext cx="2537791" cy="13514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Block Bootstrap Generator (Kirsch)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A5C4F28-77B5-124F-33F8-DA6C7D647BEB}"/>
                    </a:ext>
                  </a:extLst>
                </p:cNvPr>
                <p:cNvSpPr/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A5C4F28-77B5-124F-33F8-DA6C7D647B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36F7B22-9EED-BA48-BE6C-9DF765854B3C}"/>
                </a:ext>
              </a:extLst>
            </p:cNvPr>
            <p:cNvSpPr/>
            <p:nvPr/>
          </p:nvSpPr>
          <p:spPr>
            <a:xfrm>
              <a:off x="2267933" y="2597679"/>
              <a:ext cx="1770667" cy="820486"/>
            </a:xfrm>
            <a:prstGeom prst="roundRect">
              <a:avLst/>
            </a:prstGeom>
            <a:solidFill>
              <a:srgbClr val="C9A6E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Borg MOEA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69F1953-5B0E-58C8-44EB-86E43E34BCF9}"/>
                </a:ext>
              </a:extLst>
            </p:cNvPr>
            <p:cNvCxnSpPr>
              <a:stCxn id="28" idx="2"/>
              <a:endCxn id="26" idx="0"/>
            </p:cNvCxnSpPr>
            <p:nvPr/>
          </p:nvCxnSpPr>
          <p:spPr>
            <a:xfrm flipH="1">
              <a:off x="3148321" y="3418165"/>
              <a:ext cx="4946" cy="59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6E1B1EA-8E44-41CA-581D-A3C4F74F491A}"/>
                    </a:ext>
                  </a:extLst>
                </p:cNvPr>
                <p:cNvSpPr/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6E1B1EA-8E44-41CA-581D-A3C4F74F4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blipFill>
                  <a:blip r:embed="rId3"/>
                  <a:stretch>
                    <a:fillRect l="-17647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6E12D42-EF6D-0180-D006-3FAE972FB524}"/>
                    </a:ext>
                  </a:extLst>
                </p:cNvPr>
                <p:cNvSpPr/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6E12D42-EF6D-0180-D006-3FAE972FB5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blipFill>
                  <a:blip r:embed="rId4"/>
                  <a:stretch>
                    <a:fillRect l="-11594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421867E-6BAD-8011-C651-9EDCD6297EDD}"/>
                </a:ext>
              </a:extLst>
            </p:cNvPr>
            <p:cNvCxnSpPr>
              <a:stCxn id="26" idx="6"/>
              <a:endCxn id="32" idx="2"/>
            </p:cNvCxnSpPr>
            <p:nvPr/>
          </p:nvCxnSpPr>
          <p:spPr>
            <a:xfrm>
              <a:off x="3351918" y="4222819"/>
              <a:ext cx="274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D1068C0-84BE-26B2-534E-6BA7FFBA0BDD}"/>
                    </a:ext>
                  </a:extLst>
                </p:cNvPr>
                <p:cNvSpPr txBox="1"/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D1068C0-84BE-26B2-534E-6BA7FFBA0B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8E6F196-3FC6-19FE-C6AB-E4F31EA78BB5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4417217" y="4513247"/>
              <a:ext cx="93666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C86EAFB-4879-F2AB-150D-746F5FE82F4C}"/>
                </a:ext>
              </a:extLst>
            </p:cNvPr>
            <p:cNvGrpSpPr/>
            <p:nvPr/>
          </p:nvGrpSpPr>
          <p:grpSpPr>
            <a:xfrm>
              <a:off x="5353878" y="4122014"/>
              <a:ext cx="838200" cy="825243"/>
              <a:chOff x="4820789" y="3179067"/>
              <a:chExt cx="838200" cy="82524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D52C5B2-DD37-39B4-092F-950B0A58B581}"/>
                  </a:ext>
                </a:extLst>
              </p:cNvPr>
              <p:cNvSpPr/>
              <p:nvPr/>
            </p:nvSpPr>
            <p:spPr>
              <a:xfrm>
                <a:off x="4820789" y="3179067"/>
                <a:ext cx="838200" cy="8252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25381E54-D87D-AFCF-4151-4C502C378747}"/>
                  </a:ext>
                </a:extLst>
              </p:cNvPr>
              <p:cNvCxnSpPr/>
              <p:nvPr/>
            </p:nvCxnSpPr>
            <p:spPr>
              <a:xfrm>
                <a:off x="4884289" y="3853575"/>
                <a:ext cx="711200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7C261A8-32E8-730D-1E7A-E9B1E9E56FF8}"/>
                    </a:ext>
                  </a:extLst>
                </p:cNvPr>
                <p:cNvSpPr txBox="1"/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7C261A8-32E8-730D-1E7A-E9B1E9E56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blipFill>
                  <a:blip r:embed="rId6"/>
                  <a:stretch>
                    <a:fillRect l="-41509" r="-5660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991773A-4A80-0567-5B40-6A2C81D089CA}"/>
                    </a:ext>
                  </a:extLst>
                </p:cNvPr>
                <p:cNvSpPr/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991773A-4A80-0567-5B40-6A2C81D089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6E06F72-2319-2DA4-D04F-ED946341496B}"/>
                </a:ext>
              </a:extLst>
            </p:cNvPr>
            <p:cNvCxnSpPr>
              <a:cxnSpLocks/>
              <a:stCxn id="49" idx="0"/>
              <a:endCxn id="42" idx="4"/>
            </p:cNvCxnSpPr>
            <p:nvPr/>
          </p:nvCxnSpPr>
          <p:spPr>
            <a:xfrm flipV="1">
              <a:off x="5772978" y="3251154"/>
              <a:ext cx="0" cy="8708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7E65902-E2A0-6A47-AB1D-BD093F83874C}"/>
                </a:ext>
              </a:extLst>
            </p:cNvPr>
            <p:cNvCxnSpPr>
              <a:cxnSpLocks/>
              <a:stCxn id="42" idx="2"/>
              <a:endCxn id="28" idx="3"/>
            </p:cNvCxnSpPr>
            <p:nvPr/>
          </p:nvCxnSpPr>
          <p:spPr>
            <a:xfrm flipH="1">
              <a:off x="4038600" y="3007922"/>
              <a:ext cx="149114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64BDC7FB-D38D-07E5-9605-DB65D6E41542}"/>
                </a:ext>
              </a:extLst>
            </p:cNvPr>
            <p:cNvCxnSpPr>
              <a:cxnSpLocks/>
              <a:stCxn id="90" idx="2"/>
              <a:endCxn id="42" idx="0"/>
            </p:cNvCxnSpPr>
            <p:nvPr/>
          </p:nvCxnSpPr>
          <p:spPr>
            <a:xfrm>
              <a:off x="5772978" y="1747364"/>
              <a:ext cx="0" cy="101732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5F75FFEF-A700-A97A-154B-7D2F9CCB0B62}"/>
              </a:ext>
            </a:extLst>
          </p:cNvPr>
          <p:cNvSpPr/>
          <p:nvPr/>
        </p:nvSpPr>
        <p:spPr>
          <a:xfrm>
            <a:off x="3048000" y="1264451"/>
            <a:ext cx="838200" cy="825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630E10D-86E5-8725-385E-F723E104643B}"/>
                  </a:ext>
                </a:extLst>
              </p:cNvPr>
              <p:cNvSpPr txBox="1"/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630E10D-86E5-8725-385E-F723E1046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blipFill>
                <a:blip r:embed="rId8"/>
                <a:stretch>
                  <a:fillRect l="-37736" r="-754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BF2A149-9145-7F90-B4B8-2F8FC8356348}"/>
              </a:ext>
            </a:extLst>
          </p:cNvPr>
          <p:cNvCxnSpPr>
            <a:cxnSpLocks/>
            <a:stCxn id="79" idx="2"/>
            <a:endCxn id="31" idx="2"/>
          </p:cNvCxnSpPr>
          <p:nvPr/>
        </p:nvCxnSpPr>
        <p:spPr>
          <a:xfrm rot="16200000" flipH="1">
            <a:off x="2549900" y="3006893"/>
            <a:ext cx="2400685" cy="5662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7CCCC18-D92C-BC9C-AAAC-32AC5C229BD9}"/>
              </a:ext>
            </a:extLst>
          </p:cNvPr>
          <p:cNvCxnSpPr>
            <a:cxnSpLocks/>
            <a:stCxn id="79" idx="3"/>
            <a:endCxn id="90" idx="1"/>
          </p:cNvCxnSpPr>
          <p:nvPr/>
        </p:nvCxnSpPr>
        <p:spPr>
          <a:xfrm flipV="1">
            <a:off x="3886200" y="1674160"/>
            <a:ext cx="2404933" cy="29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69436F76-7A4A-B20E-834C-5CACD12EAD2F}"/>
              </a:ext>
            </a:extLst>
          </p:cNvPr>
          <p:cNvSpPr/>
          <p:nvPr/>
        </p:nvSpPr>
        <p:spPr>
          <a:xfrm>
            <a:off x="6291133" y="1333396"/>
            <a:ext cx="2493531" cy="681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reference (Mean) Drought Stats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6A23E70-DAD5-9823-34D1-4D678BE7669C}"/>
                  </a:ext>
                </a:extLst>
              </p:cNvPr>
              <p:cNvSpPr/>
              <p:nvPr/>
            </p:nvSpPr>
            <p:spPr>
              <a:xfrm>
                <a:off x="9507529" y="1736036"/>
                <a:ext cx="2533833" cy="327530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𝑒𝑐𝑖𝑠𝑖𝑜𝑛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>
                    <a:solidFill>
                      <a:schemeClr val="accent1"/>
                    </a:solidFill>
                  </a:rPr>
                  <a:t>Monthly bootstrap sample index.</a:t>
                </a:r>
              </a:p>
              <a:p>
                <a:endParaRPr lang="en-US" sz="2400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OR:</a:t>
                </a:r>
              </a:p>
              <a:p>
                <a:r>
                  <a:rPr lang="en-US" sz="2400" dirty="0">
                    <a:solidFill>
                      <a:schemeClr val="accent1"/>
                    </a:solidFill>
                  </a:rPr>
                  <a:t>CDF sample probability.</a:t>
                </a:r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66A23E70-DAD5-9823-34D1-4D678BE766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529" y="1736036"/>
                <a:ext cx="2533833" cy="3275300"/>
              </a:xfrm>
              <a:prstGeom prst="rect">
                <a:avLst/>
              </a:prstGeom>
              <a:blipFill>
                <a:blip r:embed="rId9"/>
                <a:stretch>
                  <a:fillRect l="-3597" r="-503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138B945-E2F1-EFC1-4137-75DABAA85FA8}"/>
              </a:ext>
            </a:extLst>
          </p:cNvPr>
          <p:cNvCxnSpPr>
            <a:cxnSpLocks/>
            <a:stCxn id="26" idx="7"/>
            <a:endCxn id="101" idx="1"/>
          </p:cNvCxnSpPr>
          <p:nvPr/>
        </p:nvCxnSpPr>
        <p:spPr>
          <a:xfrm flipV="1">
            <a:off x="5057207" y="3373686"/>
            <a:ext cx="4450322" cy="968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FA882B9-E95F-F882-536A-09291A5D87B8}"/>
                  </a:ext>
                </a:extLst>
              </p:cNvPr>
              <p:cNvSpPr/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FA882B9-E95F-F882-536A-09291A5D8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A0E342-B4C5-393E-0C52-057BA26F40C6}"/>
              </a:ext>
            </a:extLst>
          </p:cNvPr>
          <p:cNvCxnSpPr>
            <a:cxnSpLocks/>
            <a:endCxn id="46" idx="4"/>
          </p:cNvCxnSpPr>
          <p:nvPr/>
        </p:nvCxnSpPr>
        <p:spPr>
          <a:xfrm flipV="1">
            <a:off x="7537899" y="3518512"/>
            <a:ext cx="725418" cy="871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CDD214-84ED-CA97-6B47-7420341B537A}"/>
              </a:ext>
            </a:extLst>
          </p:cNvPr>
          <p:cNvCxnSpPr>
            <a:stCxn id="46" idx="2"/>
            <a:endCxn id="42" idx="6"/>
          </p:cNvCxnSpPr>
          <p:nvPr/>
        </p:nvCxnSpPr>
        <p:spPr>
          <a:xfrm flipH="1">
            <a:off x="7781131" y="3275280"/>
            <a:ext cx="238954" cy="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BEA9A97-821F-3F9F-88EC-AA36D84B01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8977" y="4916714"/>
            <a:ext cx="1730936" cy="142288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08177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7CF3D-6618-FABE-6E8E-E54B29E7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1DEB-01F0-1508-8F96-C5EC70F4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B1E2A-D367-EC6E-2C8F-4BDB14A99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22FC6-ADC5-508E-7779-EF77BAD7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DD5D4-4982-4A18-16A1-8F8B2F74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BCCCA7-1050-8DE5-EA46-AC7444478E01}"/>
              </a:ext>
            </a:extLst>
          </p:cNvPr>
          <p:cNvGrpSpPr/>
          <p:nvPr/>
        </p:nvGrpSpPr>
        <p:grpSpPr>
          <a:xfrm>
            <a:off x="3048000" y="2014924"/>
            <a:ext cx="6095999" cy="3796263"/>
            <a:chOff x="1283079" y="1747364"/>
            <a:chExt cx="6095999" cy="37962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B616042-6D38-034B-66FC-31D810B9DC1C}"/>
                </a:ext>
              </a:extLst>
            </p:cNvPr>
            <p:cNvSpPr/>
            <p:nvPr/>
          </p:nvSpPr>
          <p:spPr>
            <a:xfrm>
              <a:off x="1283079" y="2002561"/>
              <a:ext cx="6095999" cy="354106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D9A9843-71B3-9092-3FA4-2172FBFFAA25}"/>
                </a:ext>
              </a:extLst>
            </p:cNvPr>
            <p:cNvSpPr/>
            <p:nvPr/>
          </p:nvSpPr>
          <p:spPr>
            <a:xfrm>
              <a:off x="1879426" y="3837524"/>
              <a:ext cx="2537791" cy="13514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Block Bootstrap Generator (Kirsch)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B309872-23A1-9FE7-2DFA-60CF97303290}"/>
                    </a:ext>
                  </a:extLst>
                </p:cNvPr>
                <p:cNvSpPr/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B309872-23A1-9FE7-2DFA-60CF973032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E89A89E-776B-42A6-DD49-8F876FD7E2C4}"/>
                </a:ext>
              </a:extLst>
            </p:cNvPr>
            <p:cNvSpPr/>
            <p:nvPr/>
          </p:nvSpPr>
          <p:spPr>
            <a:xfrm>
              <a:off x="2267933" y="2597679"/>
              <a:ext cx="1770667" cy="820486"/>
            </a:xfrm>
            <a:prstGeom prst="roundRect">
              <a:avLst/>
            </a:prstGeom>
            <a:solidFill>
              <a:srgbClr val="C9A6E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Borg MOEA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7C572B5-C404-D7C5-1A47-9A25E4E594F0}"/>
                </a:ext>
              </a:extLst>
            </p:cNvPr>
            <p:cNvCxnSpPr>
              <a:stCxn id="28" idx="2"/>
              <a:endCxn id="26" idx="0"/>
            </p:cNvCxnSpPr>
            <p:nvPr/>
          </p:nvCxnSpPr>
          <p:spPr>
            <a:xfrm flipH="1">
              <a:off x="3148321" y="3418165"/>
              <a:ext cx="4946" cy="59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DB205039-2C1E-D128-CD2D-2C55AA40DA1B}"/>
                    </a:ext>
                  </a:extLst>
                </p:cNvPr>
                <p:cNvSpPr/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DB205039-2C1E-D128-CD2D-2C55AA40DA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blipFill>
                  <a:blip r:embed="rId3"/>
                  <a:stretch>
                    <a:fillRect l="-17647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4AAA965-E525-3AEB-7A41-CBE23CC205D4}"/>
                    </a:ext>
                  </a:extLst>
                </p:cNvPr>
                <p:cNvSpPr/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4AAA965-E525-3AEB-7A41-CBE23CC205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blipFill>
                  <a:blip r:embed="rId4"/>
                  <a:stretch>
                    <a:fillRect l="-11594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2E80B32-0002-1D88-1C4E-1D31854B2D72}"/>
                </a:ext>
              </a:extLst>
            </p:cNvPr>
            <p:cNvCxnSpPr>
              <a:stCxn id="26" idx="6"/>
              <a:endCxn id="32" idx="2"/>
            </p:cNvCxnSpPr>
            <p:nvPr/>
          </p:nvCxnSpPr>
          <p:spPr>
            <a:xfrm>
              <a:off x="3351918" y="4222819"/>
              <a:ext cx="274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F33335A-0FBE-605B-C0AE-FA00223A46B9}"/>
                    </a:ext>
                  </a:extLst>
                </p:cNvPr>
                <p:cNvSpPr txBox="1"/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F33335A-0FBE-605B-C0AE-FA00223A4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9DBC8E3-DD07-F2D8-2CD1-F99CC044B109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4417217" y="4513247"/>
              <a:ext cx="93666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85828F-F1AF-632F-56A8-0102374123F1}"/>
                </a:ext>
              </a:extLst>
            </p:cNvPr>
            <p:cNvGrpSpPr/>
            <p:nvPr/>
          </p:nvGrpSpPr>
          <p:grpSpPr>
            <a:xfrm>
              <a:off x="5353878" y="4122014"/>
              <a:ext cx="838200" cy="825243"/>
              <a:chOff x="4820789" y="3179067"/>
              <a:chExt cx="838200" cy="82524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4EFCE1F-4E29-2EBB-1CA0-121526084EB3}"/>
                  </a:ext>
                </a:extLst>
              </p:cNvPr>
              <p:cNvSpPr/>
              <p:nvPr/>
            </p:nvSpPr>
            <p:spPr>
              <a:xfrm>
                <a:off x="4820789" y="3179067"/>
                <a:ext cx="838200" cy="8252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F336A31-B753-4B5F-113E-5918F45CA9D5}"/>
                  </a:ext>
                </a:extLst>
              </p:cNvPr>
              <p:cNvCxnSpPr/>
              <p:nvPr/>
            </p:nvCxnSpPr>
            <p:spPr>
              <a:xfrm>
                <a:off x="4884289" y="3853575"/>
                <a:ext cx="711200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05F91E2-781C-1ACA-DFDE-925002F6C430}"/>
                    </a:ext>
                  </a:extLst>
                </p:cNvPr>
                <p:cNvSpPr txBox="1"/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05F91E2-781C-1ACA-DFDE-925002F6C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blipFill>
                  <a:blip r:embed="rId6"/>
                  <a:stretch>
                    <a:fillRect l="-41509" r="-5660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638AC44-A15B-AC4A-8DE1-93EF068D52C3}"/>
                    </a:ext>
                  </a:extLst>
                </p:cNvPr>
                <p:cNvSpPr/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638AC44-A15B-AC4A-8DE1-93EF068D52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8B9D324-73D6-4C6C-0240-687413F8771B}"/>
                </a:ext>
              </a:extLst>
            </p:cNvPr>
            <p:cNvCxnSpPr>
              <a:cxnSpLocks/>
              <a:stCxn id="49" idx="0"/>
              <a:endCxn id="42" idx="4"/>
            </p:cNvCxnSpPr>
            <p:nvPr/>
          </p:nvCxnSpPr>
          <p:spPr>
            <a:xfrm flipV="1">
              <a:off x="5772978" y="3251154"/>
              <a:ext cx="0" cy="8708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E0375A4-55EE-1E27-61AD-659EC4F83DC6}"/>
                </a:ext>
              </a:extLst>
            </p:cNvPr>
            <p:cNvCxnSpPr>
              <a:cxnSpLocks/>
              <a:stCxn id="42" idx="2"/>
              <a:endCxn id="28" idx="3"/>
            </p:cNvCxnSpPr>
            <p:nvPr/>
          </p:nvCxnSpPr>
          <p:spPr>
            <a:xfrm flipH="1">
              <a:off x="4038600" y="3007922"/>
              <a:ext cx="149114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DEBC8F26-48A5-7F79-B15E-2222AF8D89DC}"/>
                </a:ext>
              </a:extLst>
            </p:cNvPr>
            <p:cNvCxnSpPr>
              <a:cxnSpLocks/>
              <a:stCxn id="90" idx="2"/>
              <a:endCxn id="42" idx="0"/>
            </p:cNvCxnSpPr>
            <p:nvPr/>
          </p:nvCxnSpPr>
          <p:spPr>
            <a:xfrm>
              <a:off x="5772978" y="1747364"/>
              <a:ext cx="0" cy="101732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F629C892-04B0-DB47-6DA5-AE1F9A08F9D7}"/>
              </a:ext>
            </a:extLst>
          </p:cNvPr>
          <p:cNvSpPr/>
          <p:nvPr/>
        </p:nvSpPr>
        <p:spPr>
          <a:xfrm>
            <a:off x="3048000" y="1264451"/>
            <a:ext cx="838200" cy="825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A40A73E-E447-E2F3-E8CB-99AE7C5D93CA}"/>
                  </a:ext>
                </a:extLst>
              </p:cNvPr>
              <p:cNvSpPr txBox="1"/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A40A73E-E447-E2F3-E8CB-99AE7C5D9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blipFill>
                <a:blip r:embed="rId8"/>
                <a:stretch>
                  <a:fillRect l="-37736" r="-754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668C101D-1427-44A7-CB36-861342C1CCF5}"/>
              </a:ext>
            </a:extLst>
          </p:cNvPr>
          <p:cNvCxnSpPr>
            <a:cxnSpLocks/>
            <a:stCxn id="79" idx="2"/>
            <a:endCxn id="31" idx="2"/>
          </p:cNvCxnSpPr>
          <p:nvPr/>
        </p:nvCxnSpPr>
        <p:spPr>
          <a:xfrm rot="16200000" flipH="1">
            <a:off x="2549900" y="3006893"/>
            <a:ext cx="2400685" cy="5662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731BDA9-3A39-A2F6-EC7A-75F154986C8D}"/>
              </a:ext>
            </a:extLst>
          </p:cNvPr>
          <p:cNvCxnSpPr>
            <a:cxnSpLocks/>
            <a:stCxn id="79" idx="3"/>
            <a:endCxn id="90" idx="1"/>
          </p:cNvCxnSpPr>
          <p:nvPr/>
        </p:nvCxnSpPr>
        <p:spPr>
          <a:xfrm flipV="1">
            <a:off x="3886200" y="1674160"/>
            <a:ext cx="2404933" cy="29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2AF2C5B-1765-FBAA-9242-6BE6D3032C62}"/>
              </a:ext>
            </a:extLst>
          </p:cNvPr>
          <p:cNvSpPr/>
          <p:nvPr/>
        </p:nvSpPr>
        <p:spPr>
          <a:xfrm>
            <a:off x="6291133" y="1333396"/>
            <a:ext cx="2493531" cy="681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reference (Mean) Drought Stats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EFE24983-E9F0-AD46-C720-A49437B9A0D8}"/>
                  </a:ext>
                </a:extLst>
              </p:cNvPr>
              <p:cNvSpPr/>
              <p:nvPr/>
            </p:nvSpPr>
            <p:spPr>
              <a:xfrm>
                <a:off x="9507529" y="1736036"/>
                <a:ext cx="2533833" cy="327530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𝑒𝑐𝑖𝑠𝑖𝑜𝑛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𝑣𝑎𝑟</m:t>
                      </m:r>
                      <m:r>
                        <a:rPr lang="en-US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400" b="0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Array of size </a:t>
                </a:r>
              </a:p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(</a:t>
                </a:r>
                <a:r>
                  <a:rPr lang="en-US" sz="2400" dirty="0" err="1">
                    <a:solidFill>
                      <a:schemeClr val="accent1"/>
                    </a:solidFill>
                  </a:rPr>
                  <a:t>N_years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* 12)</a:t>
                </a:r>
              </a:p>
            </p:txBody>
          </p:sp>
        </mc:Choice>
        <mc:Fallback xmlns=""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EFE24983-E9F0-AD46-C720-A49437B9A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529" y="1736036"/>
                <a:ext cx="2533833" cy="32753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956BDD9-E905-D7A9-EC44-F7CCE349313F}"/>
              </a:ext>
            </a:extLst>
          </p:cNvPr>
          <p:cNvCxnSpPr>
            <a:cxnSpLocks/>
            <a:stCxn id="26" idx="7"/>
            <a:endCxn id="101" idx="1"/>
          </p:cNvCxnSpPr>
          <p:nvPr/>
        </p:nvCxnSpPr>
        <p:spPr>
          <a:xfrm flipV="1">
            <a:off x="5057207" y="3373686"/>
            <a:ext cx="4450322" cy="968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7D0CA5C-5903-84EC-7ED7-151FDB126823}"/>
                  </a:ext>
                </a:extLst>
              </p:cNvPr>
              <p:cNvSpPr/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7D0CA5C-5903-84EC-7ED7-151FDB1268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5E82AA1-ABE2-F9A4-CFDC-D6C1B7F7EB47}"/>
              </a:ext>
            </a:extLst>
          </p:cNvPr>
          <p:cNvCxnSpPr>
            <a:cxnSpLocks/>
            <a:endCxn id="46" idx="4"/>
          </p:cNvCxnSpPr>
          <p:nvPr/>
        </p:nvCxnSpPr>
        <p:spPr>
          <a:xfrm flipV="1">
            <a:off x="7537899" y="3518512"/>
            <a:ext cx="725418" cy="871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11155B-084F-67AC-A706-8E5966F6C1FB}"/>
              </a:ext>
            </a:extLst>
          </p:cNvPr>
          <p:cNvCxnSpPr>
            <a:stCxn id="46" idx="2"/>
            <a:endCxn id="42" idx="6"/>
          </p:cNvCxnSpPr>
          <p:nvPr/>
        </p:nvCxnSpPr>
        <p:spPr>
          <a:xfrm flipH="1">
            <a:off x="7781131" y="3275280"/>
            <a:ext cx="238954" cy="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741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4CEE-574D-1961-42DC-E1067B93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68B4-482F-7B3F-2D78-5217CCC1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A11F0-B3C6-EF31-36EF-31D1B58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7AD07-9B79-202E-8F66-0D7B54E9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5B9F8-7838-C18F-A53F-3E016DF2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E828B1-EFC5-6B6F-05B7-21A2F30996A2}"/>
              </a:ext>
            </a:extLst>
          </p:cNvPr>
          <p:cNvGrpSpPr/>
          <p:nvPr/>
        </p:nvGrpSpPr>
        <p:grpSpPr>
          <a:xfrm>
            <a:off x="3048000" y="2014924"/>
            <a:ext cx="6095999" cy="3796263"/>
            <a:chOff x="1283079" y="1747364"/>
            <a:chExt cx="6095999" cy="37962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C95A99F-F1BD-31FD-0C4A-D935FD210563}"/>
                </a:ext>
              </a:extLst>
            </p:cNvPr>
            <p:cNvSpPr/>
            <p:nvPr/>
          </p:nvSpPr>
          <p:spPr>
            <a:xfrm>
              <a:off x="1283079" y="2002561"/>
              <a:ext cx="6095999" cy="354106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616D282-360C-1F0B-1001-47E9DFB91CAC}"/>
                </a:ext>
              </a:extLst>
            </p:cNvPr>
            <p:cNvSpPr/>
            <p:nvPr/>
          </p:nvSpPr>
          <p:spPr>
            <a:xfrm>
              <a:off x="1879426" y="3837524"/>
              <a:ext cx="2537791" cy="13514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b"/>
            <a:lstStyle/>
            <a:p>
              <a:pPr algn="ctr"/>
              <a:r>
                <a:rPr lang="en-US" dirty="0"/>
                <a:t>Block Bootstrap Generator (Kirsch)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D54FD9B3-6372-22FA-CDBD-ECFEF7E8B3D2}"/>
                    </a:ext>
                  </a:extLst>
                </p:cNvPr>
                <p:cNvSpPr/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D54FD9B3-6372-22FA-CDBD-ECFEF7E8B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4724" y="4013283"/>
                  <a:ext cx="407194" cy="419072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4CB930F-ADAA-D840-A108-8FC7A7B84E37}"/>
                </a:ext>
              </a:extLst>
            </p:cNvPr>
            <p:cNvSpPr/>
            <p:nvPr/>
          </p:nvSpPr>
          <p:spPr>
            <a:xfrm>
              <a:off x="2267933" y="2597679"/>
              <a:ext cx="1770667" cy="820486"/>
            </a:xfrm>
            <a:prstGeom prst="roundRect">
              <a:avLst/>
            </a:prstGeom>
            <a:solidFill>
              <a:srgbClr val="C9A6E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Borg MOEA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5D6D485-DBE8-B1D7-631B-B139562EE250}"/>
                </a:ext>
              </a:extLst>
            </p:cNvPr>
            <p:cNvCxnSpPr>
              <a:stCxn id="28" idx="2"/>
              <a:endCxn id="26" idx="0"/>
            </p:cNvCxnSpPr>
            <p:nvPr/>
          </p:nvCxnSpPr>
          <p:spPr>
            <a:xfrm flipH="1">
              <a:off x="3148321" y="3418165"/>
              <a:ext cx="4946" cy="59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B8B9E268-2FCA-53B0-BF42-E5F44EF6246D}"/>
                    </a:ext>
                  </a:extLst>
                </p:cNvPr>
                <p:cNvSpPr/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B8B9E268-2FCA-53B0-BF42-E5F44EF624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464" y="4013283"/>
                  <a:ext cx="407194" cy="419072"/>
                </a:xfrm>
                <a:prstGeom prst="ellipse">
                  <a:avLst/>
                </a:prstGeom>
                <a:blipFill>
                  <a:blip r:embed="rId3"/>
                  <a:stretch>
                    <a:fillRect l="-17647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0F91F4F-1005-D488-6EFA-530E9BFB2E9F}"/>
                    </a:ext>
                  </a:extLst>
                </p:cNvPr>
                <p:cNvSpPr/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D0F91F4F-1005-D488-6EFA-530E9BFB2E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192" y="4013283"/>
                  <a:ext cx="407194" cy="419072"/>
                </a:xfrm>
                <a:prstGeom prst="ellipse">
                  <a:avLst/>
                </a:prstGeom>
                <a:blipFill>
                  <a:blip r:embed="rId4"/>
                  <a:stretch>
                    <a:fillRect l="-11594" b="-1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5212C3E-1F66-EFDD-F6BE-D386EF0992D1}"/>
                </a:ext>
              </a:extLst>
            </p:cNvPr>
            <p:cNvCxnSpPr>
              <a:stCxn id="26" idx="6"/>
              <a:endCxn id="32" idx="2"/>
            </p:cNvCxnSpPr>
            <p:nvPr/>
          </p:nvCxnSpPr>
          <p:spPr>
            <a:xfrm>
              <a:off x="3351918" y="4222819"/>
              <a:ext cx="274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038585F-F20D-8C15-0E96-C4AE00A931A3}"/>
                    </a:ext>
                  </a:extLst>
                </p:cNvPr>
                <p:cNvSpPr txBox="1"/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038585F-F20D-8C15-0E96-C4AE00A93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94" y="4029543"/>
                  <a:ext cx="35118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4D79B5D-2B25-1DE2-B346-06E0986B5301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4417217" y="4513247"/>
              <a:ext cx="936661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D0DE1D1-01ED-338A-0E12-1ADBBEB4F89A}"/>
                </a:ext>
              </a:extLst>
            </p:cNvPr>
            <p:cNvGrpSpPr/>
            <p:nvPr/>
          </p:nvGrpSpPr>
          <p:grpSpPr>
            <a:xfrm>
              <a:off x="5353878" y="4122014"/>
              <a:ext cx="838200" cy="825243"/>
              <a:chOff x="4820789" y="3179067"/>
              <a:chExt cx="838200" cy="82524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F08868A-82B0-7ED4-39CD-4C3C957B27D4}"/>
                  </a:ext>
                </a:extLst>
              </p:cNvPr>
              <p:cNvSpPr/>
              <p:nvPr/>
            </p:nvSpPr>
            <p:spPr>
              <a:xfrm>
                <a:off x="4820789" y="3179067"/>
                <a:ext cx="838200" cy="82524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F671424-CE16-5FAA-57CD-AC8D6E95BC35}"/>
                  </a:ext>
                </a:extLst>
              </p:cNvPr>
              <p:cNvCxnSpPr/>
              <p:nvPr/>
            </p:nvCxnSpPr>
            <p:spPr>
              <a:xfrm>
                <a:off x="4884289" y="3853575"/>
                <a:ext cx="711200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9687B36-0BA4-CF82-BBB3-680C76C31866}"/>
                    </a:ext>
                  </a:extLst>
                </p:cNvPr>
                <p:cNvSpPr txBox="1"/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9687B36-0BA4-CF82-BBB3-680C76C31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424" y="4343519"/>
                  <a:ext cx="321733" cy="394210"/>
                </a:xfrm>
                <a:prstGeom prst="rect">
                  <a:avLst/>
                </a:prstGeom>
                <a:blipFill>
                  <a:blip r:embed="rId6"/>
                  <a:stretch>
                    <a:fillRect l="-41509" r="-5660"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F62E6AA-43BC-6195-73B0-829D05B01CF4}"/>
                    </a:ext>
                  </a:extLst>
                </p:cNvPr>
                <p:cNvSpPr/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F62E6AA-43BC-6195-73B0-829D05B01C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746" y="2764690"/>
                  <a:ext cx="486464" cy="48646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0B0E5A6-AB77-B819-F939-3E5F178114F2}"/>
                </a:ext>
              </a:extLst>
            </p:cNvPr>
            <p:cNvCxnSpPr>
              <a:cxnSpLocks/>
              <a:stCxn id="49" idx="0"/>
              <a:endCxn id="42" idx="4"/>
            </p:cNvCxnSpPr>
            <p:nvPr/>
          </p:nvCxnSpPr>
          <p:spPr>
            <a:xfrm flipV="1">
              <a:off x="5772978" y="3251154"/>
              <a:ext cx="0" cy="8708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0E4C459-7ACD-073E-E545-96C0FB5CBEF1}"/>
                </a:ext>
              </a:extLst>
            </p:cNvPr>
            <p:cNvCxnSpPr>
              <a:cxnSpLocks/>
              <a:stCxn id="42" idx="2"/>
              <a:endCxn id="28" idx="3"/>
            </p:cNvCxnSpPr>
            <p:nvPr/>
          </p:nvCxnSpPr>
          <p:spPr>
            <a:xfrm flipH="1">
              <a:off x="4038600" y="3007922"/>
              <a:ext cx="1491146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75744CBB-E1D5-52EB-2370-6EEFC09B6967}"/>
                </a:ext>
              </a:extLst>
            </p:cNvPr>
            <p:cNvCxnSpPr>
              <a:cxnSpLocks/>
              <a:stCxn id="90" idx="2"/>
              <a:endCxn id="42" idx="0"/>
            </p:cNvCxnSpPr>
            <p:nvPr/>
          </p:nvCxnSpPr>
          <p:spPr>
            <a:xfrm>
              <a:off x="5772978" y="1747364"/>
              <a:ext cx="0" cy="101732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06ABCAE1-1B5A-1EA5-0068-39DA0F849A07}"/>
              </a:ext>
            </a:extLst>
          </p:cNvPr>
          <p:cNvSpPr/>
          <p:nvPr/>
        </p:nvSpPr>
        <p:spPr>
          <a:xfrm>
            <a:off x="3048000" y="1264451"/>
            <a:ext cx="838200" cy="8252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7C5B0C0-9364-D679-3560-FC98B6284AEF}"/>
                  </a:ext>
                </a:extLst>
              </p:cNvPr>
              <p:cNvSpPr txBox="1"/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7C5B0C0-9364-D679-3560-FC98B6284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614" y="1442893"/>
                <a:ext cx="321733" cy="369332"/>
              </a:xfrm>
              <a:prstGeom prst="rect">
                <a:avLst/>
              </a:prstGeom>
              <a:blipFill>
                <a:blip r:embed="rId8"/>
                <a:stretch>
                  <a:fillRect l="-37736" r="-7547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03E0FCD-CA17-1A5F-38C2-E06D642C151A}"/>
              </a:ext>
            </a:extLst>
          </p:cNvPr>
          <p:cNvCxnSpPr>
            <a:cxnSpLocks/>
            <a:stCxn id="79" idx="2"/>
            <a:endCxn id="31" idx="2"/>
          </p:cNvCxnSpPr>
          <p:nvPr/>
        </p:nvCxnSpPr>
        <p:spPr>
          <a:xfrm rot="16200000" flipH="1">
            <a:off x="2549900" y="3006893"/>
            <a:ext cx="2400685" cy="56628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6C2D5FA-A9E7-9A25-6951-3A83F75E9EF7}"/>
              </a:ext>
            </a:extLst>
          </p:cNvPr>
          <p:cNvCxnSpPr>
            <a:cxnSpLocks/>
            <a:stCxn id="79" idx="3"/>
            <a:endCxn id="90" idx="1"/>
          </p:cNvCxnSpPr>
          <p:nvPr/>
        </p:nvCxnSpPr>
        <p:spPr>
          <a:xfrm flipV="1">
            <a:off x="3886200" y="1674160"/>
            <a:ext cx="2404933" cy="29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81C2E95C-C40A-D5D6-F3B4-B6BD1E99C942}"/>
              </a:ext>
            </a:extLst>
          </p:cNvPr>
          <p:cNvSpPr/>
          <p:nvPr/>
        </p:nvSpPr>
        <p:spPr>
          <a:xfrm>
            <a:off x="6291133" y="1333396"/>
            <a:ext cx="2493531" cy="6815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 reference (Mean) Drought Stats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19EB9AE-D5D2-675E-8177-BA64312DF167}"/>
                  </a:ext>
                </a:extLst>
              </p:cNvPr>
              <p:cNvSpPr/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19EB9AE-D5D2-675E-8177-BA64312DF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085" y="3032048"/>
                <a:ext cx="486464" cy="48646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0E243A5-1341-19CA-59ED-F2385652B8FF}"/>
              </a:ext>
            </a:extLst>
          </p:cNvPr>
          <p:cNvCxnSpPr>
            <a:cxnSpLocks/>
            <a:endCxn id="46" idx="4"/>
          </p:cNvCxnSpPr>
          <p:nvPr/>
        </p:nvCxnSpPr>
        <p:spPr>
          <a:xfrm flipV="1">
            <a:off x="7537899" y="3518512"/>
            <a:ext cx="725418" cy="871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AAF77A-FF42-C878-5316-D7D397280DBD}"/>
              </a:ext>
            </a:extLst>
          </p:cNvPr>
          <p:cNvCxnSpPr>
            <a:stCxn id="46" idx="2"/>
            <a:endCxn id="42" idx="6"/>
          </p:cNvCxnSpPr>
          <p:nvPr/>
        </p:nvCxnSpPr>
        <p:spPr>
          <a:xfrm flipH="1">
            <a:off x="7781131" y="3275280"/>
            <a:ext cx="238954" cy="2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136B2-DC6B-AD8D-62AB-022894C1792A}"/>
              </a:ext>
            </a:extLst>
          </p:cNvPr>
          <p:cNvGrpSpPr/>
          <p:nvPr/>
        </p:nvGrpSpPr>
        <p:grpSpPr>
          <a:xfrm>
            <a:off x="10024387" y="4631286"/>
            <a:ext cx="838200" cy="825243"/>
            <a:chOff x="1778000" y="3179067"/>
            <a:chExt cx="838200" cy="825243"/>
          </a:xfrm>
          <a:solidFill>
            <a:schemeClr val="accent6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AF130A5-26E5-8BBD-0FF4-E87CF964A401}"/>
                </a:ext>
              </a:extLst>
            </p:cNvPr>
            <p:cNvSpPr/>
            <p:nvPr/>
          </p:nvSpPr>
          <p:spPr>
            <a:xfrm>
              <a:off x="1778000" y="3179067"/>
              <a:ext cx="838200" cy="825243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658691-4BB2-52E4-BBFC-643C939D9054}"/>
                </a:ext>
              </a:extLst>
            </p:cNvPr>
            <p:cNvSpPr/>
            <p:nvPr/>
          </p:nvSpPr>
          <p:spPr>
            <a:xfrm>
              <a:off x="1905977" y="3324405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F154867-B288-34E3-1CCD-A4D6C722B6FB}"/>
                </a:ext>
              </a:extLst>
            </p:cNvPr>
            <p:cNvSpPr/>
            <p:nvPr/>
          </p:nvSpPr>
          <p:spPr>
            <a:xfrm>
              <a:off x="2371644" y="3324405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B27875D-9CBB-E8AE-0E66-90E4A18D86D8}"/>
                </a:ext>
              </a:extLst>
            </p:cNvPr>
            <p:cNvSpPr/>
            <p:nvPr/>
          </p:nvSpPr>
          <p:spPr>
            <a:xfrm>
              <a:off x="2144183" y="3430239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8B69C0F-C3B8-B54D-0854-E3E080D61226}"/>
                </a:ext>
              </a:extLst>
            </p:cNvPr>
            <p:cNvSpPr/>
            <p:nvPr/>
          </p:nvSpPr>
          <p:spPr>
            <a:xfrm>
              <a:off x="1916722" y="3536073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FCF049F-866D-34D1-F37A-C9E3D1DDC352}"/>
                </a:ext>
              </a:extLst>
            </p:cNvPr>
            <p:cNvSpPr/>
            <p:nvPr/>
          </p:nvSpPr>
          <p:spPr>
            <a:xfrm>
              <a:off x="2371644" y="3536073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8B0C94D-A3C6-666F-D34F-CEF38A4385DE}"/>
                </a:ext>
              </a:extLst>
            </p:cNvPr>
            <p:cNvSpPr/>
            <p:nvPr/>
          </p:nvSpPr>
          <p:spPr>
            <a:xfrm>
              <a:off x="2144183" y="3686025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898BFD-007F-8E2C-B5D4-EDE27C814AD7}"/>
                </a:ext>
              </a:extLst>
            </p:cNvPr>
            <p:cNvSpPr/>
            <p:nvPr/>
          </p:nvSpPr>
          <p:spPr>
            <a:xfrm>
              <a:off x="1910211" y="3791859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E1DF06-339B-506A-6FB3-31ED81373EAB}"/>
                </a:ext>
              </a:extLst>
            </p:cNvPr>
            <p:cNvSpPr/>
            <p:nvPr/>
          </p:nvSpPr>
          <p:spPr>
            <a:xfrm>
              <a:off x="2378155" y="3791859"/>
              <a:ext cx="105834" cy="105834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B40698-0CAB-B821-E44C-F29AE562225C}"/>
                  </a:ext>
                </a:extLst>
              </p:cNvPr>
              <p:cNvSpPr txBox="1"/>
              <p:nvPr/>
            </p:nvSpPr>
            <p:spPr>
              <a:xfrm>
                <a:off x="10302809" y="5441855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𝑫𝒖𝒓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B40698-0CAB-B821-E44C-F29AE5622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809" y="5441855"/>
                <a:ext cx="321733" cy="369332"/>
              </a:xfrm>
              <a:prstGeom prst="rect">
                <a:avLst/>
              </a:prstGeom>
              <a:blipFill>
                <a:blip r:embed="rId10"/>
                <a:stretch>
                  <a:fillRect l="-84906" r="-6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3CA06B0-3D0E-F99D-C6F0-5ABE76409915}"/>
              </a:ext>
            </a:extLst>
          </p:cNvPr>
          <p:cNvGrpSpPr/>
          <p:nvPr/>
        </p:nvGrpSpPr>
        <p:grpSpPr>
          <a:xfrm>
            <a:off x="10024387" y="3486056"/>
            <a:ext cx="838200" cy="825243"/>
            <a:chOff x="4820789" y="3179067"/>
            <a:chExt cx="838200" cy="82524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4C3EDF-27C0-BBDA-9613-E8F84C5CD583}"/>
                </a:ext>
              </a:extLst>
            </p:cNvPr>
            <p:cNvSpPr/>
            <p:nvPr/>
          </p:nvSpPr>
          <p:spPr>
            <a:xfrm>
              <a:off x="4820789" y="3179067"/>
              <a:ext cx="838200" cy="82524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B9CB27E-D71A-049F-54A3-9BE6BC617267}"/>
                </a:ext>
              </a:extLst>
            </p:cNvPr>
            <p:cNvCxnSpPr/>
            <p:nvPr/>
          </p:nvCxnSpPr>
          <p:spPr>
            <a:xfrm>
              <a:off x="4884289" y="3853575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1A0D737-752B-903E-9264-BAD48086341B}"/>
                </a:ext>
              </a:extLst>
            </p:cNvPr>
            <p:cNvCxnSpPr/>
            <p:nvPr/>
          </p:nvCxnSpPr>
          <p:spPr>
            <a:xfrm>
              <a:off x="4884289" y="3743782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DCD2BCF-278F-8550-602C-1B50617C4DD9}"/>
                </a:ext>
              </a:extLst>
            </p:cNvPr>
            <p:cNvCxnSpPr/>
            <p:nvPr/>
          </p:nvCxnSpPr>
          <p:spPr>
            <a:xfrm>
              <a:off x="4884289" y="3633989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F0265B-5D4D-C282-B0F0-8CFD7A19F3A9}"/>
                </a:ext>
              </a:extLst>
            </p:cNvPr>
            <p:cNvCxnSpPr/>
            <p:nvPr/>
          </p:nvCxnSpPr>
          <p:spPr>
            <a:xfrm>
              <a:off x="4884289" y="3524196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811971A-5FCD-5190-F41F-05E1C1B071A5}"/>
                </a:ext>
              </a:extLst>
            </p:cNvPr>
            <p:cNvCxnSpPr/>
            <p:nvPr/>
          </p:nvCxnSpPr>
          <p:spPr>
            <a:xfrm>
              <a:off x="4884289" y="3414403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0AF94C-471D-D8BE-A98F-F1E0CC2F8FFD}"/>
                </a:ext>
              </a:extLst>
            </p:cNvPr>
            <p:cNvCxnSpPr/>
            <p:nvPr/>
          </p:nvCxnSpPr>
          <p:spPr>
            <a:xfrm>
              <a:off x="4884289" y="3304610"/>
              <a:ext cx="71120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5231BD-7338-9009-C2E1-1B90B64CF1ED}"/>
                  </a:ext>
                </a:extLst>
              </p:cNvPr>
              <p:cNvSpPr txBox="1"/>
              <p:nvPr/>
            </p:nvSpPr>
            <p:spPr>
              <a:xfrm>
                <a:off x="10299933" y="3707561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75231BD-7338-9009-C2E1-1B90B64CF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9933" y="3707561"/>
                <a:ext cx="321733" cy="369332"/>
              </a:xfrm>
              <a:prstGeom prst="rect">
                <a:avLst/>
              </a:prstGeom>
              <a:blipFill>
                <a:blip r:embed="rId11"/>
                <a:stretch>
                  <a:fillRect l="-34615" r="-1923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06D383-48BD-1D88-5278-1A811E8D06E6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443487" y="4311299"/>
            <a:ext cx="0" cy="3087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ACC2A2-2AE9-8DD4-7645-198B80FC087D}"/>
                  </a:ext>
                </a:extLst>
              </p:cNvPr>
              <p:cNvSpPr txBox="1"/>
              <p:nvPr/>
            </p:nvSpPr>
            <p:spPr>
              <a:xfrm>
                <a:off x="9559329" y="4837248"/>
                <a:ext cx="321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ACC2A2-2AE9-8DD4-7645-198B80FC0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329" y="4837248"/>
                <a:ext cx="321733" cy="369332"/>
              </a:xfrm>
              <a:prstGeom prst="rect">
                <a:avLst/>
              </a:prstGeom>
              <a:blipFill>
                <a:blip r:embed="rId12"/>
                <a:stretch>
                  <a:fillRect l="-62264" r="-39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9BEBAAD0-5A8B-536E-D0D7-77A0C0DDF516}"/>
              </a:ext>
            </a:extLst>
          </p:cNvPr>
          <p:cNvSpPr/>
          <p:nvPr/>
        </p:nvSpPr>
        <p:spPr>
          <a:xfrm>
            <a:off x="10024387" y="4620076"/>
            <a:ext cx="838200" cy="82524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2A87469-75A0-EC78-6A3C-8D85ABBB1609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9143999" y="3898678"/>
            <a:ext cx="880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322E750-95E0-2DB6-FD97-6D1F44D38900}"/>
              </a:ext>
            </a:extLst>
          </p:cNvPr>
          <p:cNvSpPr/>
          <p:nvPr/>
        </p:nvSpPr>
        <p:spPr>
          <a:xfrm>
            <a:off x="6568597" y="3802324"/>
            <a:ext cx="1973227" cy="317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Calc. Drought Stats</a:t>
            </a:r>
          </a:p>
        </p:txBody>
      </p:sp>
    </p:spTree>
    <p:extLst>
      <p:ext uri="{BB962C8B-B14F-4D97-AF65-F5344CB8AC3E}">
        <p14:creationId xmlns:p14="http://schemas.microsoft.com/office/powerpoint/2010/main" val="1853888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A5DE-5900-0A0E-EB69-DACCE160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716A-F0F0-8C01-F57D-5DBE8365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7" y="165840"/>
            <a:ext cx="11773964" cy="640715"/>
          </a:xfrm>
        </p:spPr>
        <p:txBody>
          <a:bodyPr>
            <a:normAutofit fontScale="90000"/>
          </a:bodyPr>
          <a:lstStyle/>
          <a:p>
            <a:r>
              <a:rPr lang="en-US" dirty="0"/>
              <a:t>New generator proposal – </a:t>
            </a:r>
            <a:r>
              <a:rPr lang="en-US" i="1" dirty="0"/>
              <a:t>practical plan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7DCD2-2676-39CF-EAA9-FA57DD2E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A2C13-7175-73CC-63B4-B737AB65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B1577-8A3A-2FCE-400B-48BC8FBF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0B8D9F-57F7-058E-7BB8-6A1C27AEABDC}"/>
              </a:ext>
            </a:extLst>
          </p:cNvPr>
          <p:cNvSpPr txBox="1"/>
          <p:nvPr/>
        </p:nvSpPr>
        <p:spPr>
          <a:xfrm>
            <a:off x="873368" y="1202891"/>
            <a:ext cx="10210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Other considerations:</a:t>
            </a:r>
          </a:p>
          <a:p>
            <a:pPr marL="342900" indent="-342900">
              <a:buAutoNum type="arabicPeriod"/>
            </a:pPr>
            <a:r>
              <a:rPr lang="en-US" sz="2400" dirty="0"/>
              <a:t>How to generate series for multiple sites?</a:t>
            </a:r>
          </a:p>
          <a:p>
            <a:pPr marL="800100" lvl="1" indent="-342900">
              <a:buAutoNum type="arabicPeriod"/>
            </a:pPr>
            <a:r>
              <a:rPr lang="en-US" sz="2400" dirty="0"/>
              <a:t>The block bootstrapping (Kirsch) enforces multi-site correlation by using the same sampling indices for each site.</a:t>
            </a:r>
          </a:p>
          <a:p>
            <a:pPr lvl="1"/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/>
              <a:t>How to generate demand timeseries?</a:t>
            </a:r>
          </a:p>
          <a:p>
            <a:pPr marL="800100" lvl="1" indent="-342900">
              <a:buAutoNum type="arabicPeriod"/>
            </a:pPr>
            <a:r>
              <a:rPr lang="en-US" sz="2400" dirty="0"/>
              <a:t>Two options:</a:t>
            </a:r>
          </a:p>
          <a:p>
            <a:pPr marL="1257300" lvl="2" indent="-342900">
              <a:buAutoNum type="arabicPeriod"/>
            </a:pPr>
            <a:r>
              <a:rPr lang="en-US" sz="2400" dirty="0"/>
              <a:t>Treat demand as another ‘site’ in the bootstrap; correlation will be imposed automatically</a:t>
            </a:r>
          </a:p>
          <a:p>
            <a:pPr marL="1257300" lvl="2" indent="-342900">
              <a:buAutoNum type="arabicPeriod"/>
            </a:pPr>
            <a:r>
              <a:rPr lang="en-US" sz="2400" dirty="0"/>
              <a:t>Explicitly model the demand as a stochastic process with a given correlation structure (the correlation can be treated as another factor)</a:t>
            </a:r>
          </a:p>
          <a:p>
            <a:pPr marL="1257300" lvl="2" indent="-342900">
              <a:buAutoNum type="arabicPeriod"/>
            </a:pPr>
            <a:r>
              <a:rPr lang="en-US" sz="2400" dirty="0"/>
              <a:t>Regress: f(streamflow anomalies) -&gt; demand anomalies (done in Hadjimichael et al.)</a:t>
            </a:r>
          </a:p>
          <a:p>
            <a:pPr marL="800100" lvl="1" indent="-342900">
              <a:buAutoNum type="arabicPeriod"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5A0C1EA-E44B-069F-196F-1CD7A487334C}"/>
                  </a:ext>
                </a:extLst>
              </p:cNvPr>
              <p:cNvSpPr/>
              <p:nvPr/>
            </p:nvSpPr>
            <p:spPr>
              <a:xfrm>
                <a:off x="10814536" y="2044108"/>
                <a:ext cx="269632" cy="28662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dirty="0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5A0C1EA-E44B-069F-196F-1CD7A48733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4536" y="2044108"/>
                <a:ext cx="269632" cy="28662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18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1183</Words>
  <Application>Microsoft Office PowerPoint</Application>
  <PresentationFormat>Widescreen</PresentationFormat>
  <Paragraphs>310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MOEA-FIND proposal</vt:lpstr>
      <vt:lpstr>Synthetic generation literature reviews</vt:lpstr>
      <vt:lpstr>Synthetic generation literature reviews</vt:lpstr>
      <vt:lpstr>Synthetic generation literature reviews</vt:lpstr>
      <vt:lpstr>Synthetic generation – breakdown of Kirsch</vt:lpstr>
      <vt:lpstr>Synthetic generation – breakdown of Kirsch</vt:lpstr>
      <vt:lpstr>New generator proposal – testing the concept</vt:lpstr>
      <vt:lpstr>New generator proposal – testing the concept</vt:lpstr>
      <vt:lpstr>New generator proposal – testing the concept</vt:lpstr>
      <vt:lpstr>New generator proposal – testing the concept</vt:lpstr>
      <vt:lpstr>New generator proposal – testing the concept</vt:lpstr>
      <vt:lpstr>New generator proposal – testing the concept</vt:lpstr>
      <vt:lpstr>New generator proposal – testing the concept</vt:lpstr>
      <vt:lpstr>New generator proposal – testing the concept</vt:lpstr>
      <vt:lpstr>New generator proposal – testing the concept</vt:lpstr>
      <vt:lpstr>New generator proposal: Motivation</vt:lpstr>
      <vt:lpstr>New generator proposal – practical plan</vt:lpstr>
      <vt:lpstr>New generator proposal – practical plan</vt:lpstr>
      <vt:lpstr>New generator proposal – practical plan</vt:lpstr>
      <vt:lpstr>New generator proposal – practical plan</vt:lpstr>
      <vt:lpstr>New generator proposal – practical plan</vt:lpstr>
      <vt:lpstr>New generator proposal – practical plan</vt:lpstr>
      <vt:lpstr>New generator proposal – practical plan</vt:lpstr>
      <vt:lpstr>New generator proposal – practical plan</vt:lpstr>
      <vt:lpstr>New generator proposal – practical plan</vt:lpstr>
      <vt:lpstr>New generator proposal – practical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Amestoy</dc:creator>
  <cp:lastModifiedBy>Trevor Amestoy</cp:lastModifiedBy>
  <cp:revision>1</cp:revision>
  <dcterms:created xsi:type="dcterms:W3CDTF">2026-04-12T17:38:49Z</dcterms:created>
  <dcterms:modified xsi:type="dcterms:W3CDTF">2026-04-13T14:02:19Z</dcterms:modified>
</cp:coreProperties>
</file>